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embeddedFontLst>
    <p:embeddedFont>
      <p:font typeface="Outfit"/>
      <p:regular r:id="rId16"/>
      <p:bold r:id="rId17"/>
    </p:embeddedFont>
    <p:embeddedFont>
      <p:font typeface="Nunito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F75525-73A7-4626-91C0-E8A562D871EE}">
  <a:tblStyle styleId="{5DF75525-73A7-4626-91C0-E8A562D871E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NunitoSans-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utfit-bold.fntdata"/><Relationship Id="rId16" Type="http://schemas.openxmlformats.org/officeDocument/2006/relationships/font" Target="fonts/Outfit-regular.fntdata"/><Relationship Id="rId5" Type="http://schemas.openxmlformats.org/officeDocument/2006/relationships/notesMaster" Target="notesMasters/notesMaster1.xml"/><Relationship Id="rId19" Type="http://schemas.openxmlformats.org/officeDocument/2006/relationships/font" Target="fonts/NunitoSans-bold.fntdata"/><Relationship Id="rId6" Type="http://schemas.openxmlformats.org/officeDocument/2006/relationships/slide" Target="slides/slide1.xml"/><Relationship Id="rId18" Type="http://schemas.openxmlformats.org/officeDocument/2006/relationships/font" Target="fonts/Nunito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seconds. Introduce the team by name. Say the product name and read the question on screen slowly: "Are we ready for the next person who reaches out?" That question is the whole pitch.</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 seconds. Suggested words: "Most marketing dashboards ask whether a campaign generated demand. We asked a different question: what happens when marketing succeeds? For Hey Sam, every successful campaign creates a real obligation — another young person who may need a human being on the other end of the text." Optional: Samaritans announced a gift of more than $1M from the Scripps Family Impact Fund in July 2026. Only mention it if you confirm it is the donation the brief refers to.</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seconds. This slide is for Challenge Fit — show you understand who Hey Sam serves. Point left: the young person reaching out. Point right: the young person listening. Key line: "Volunteers are young people too, often students. They are not an infinitely scalable resource. So protecting their capacity is part of the mission, not just operations."</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seconds. "Connection Pulse connects the four data sources Samaritans already has into one chain. Marketing, operations, volunteer capacity and service quality are one system. If awareness goes up, you can watch the effect move all the way down to whether a young person gets a real connection." Mention that everything is turned into de-identified totals before anyone sees it (more on that shortly).</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seconds. This is the key idea. "Most dashboards ask: do we have enough volunteers scheduled? We ask something harder. Available coverage is 100 conversations. But we never want to run young volunteers at 100% — healthy systems need breathing room. Sustainable capacity is 80. Projected demand is 76. So technically we're covered, but we're 4 conversations from the healthy boundary. The response is to add coverage or ease campaigns at peak hours — never to ask volunteers to work more."</a:t>
            </a:r>
            <a:endParaRPr/>
          </a:p>
        </p:txBody>
      </p:sp>
      <p:sp>
        <p:nvSpPr>
          <p:cNvPr id="89" name="Google Shape;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seconds. This is the signature feature, and where you switch to the live prototype if you have it. Walk the rows top to bottom: "If we only turn up marketing by 20%, demand outruns what peers can sustainably handle. Grow peer capacity 10% and we're close. Add 8 peer shifts at peak and we're ready. So the dashboard doesn't just say stop — it tells Samaritans exactly what staffing investment unlocks the next level of reach." The three levers are marketing, peer capacity, and operating hours.</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seconds. Pick the one you care about most and spend the most time there. News: "When a tragedy is in the news, demand rises for reasons that have nothing to do with marketing. The dashboard flags it, so it isn't credited to a campaign, and recommends more staff — never more ads. Samaritans should never market off a tragedy." Lag: "Marketing and demand run on different clocks. If a campaign's texts arrive two days later, that's when shifts need to be ready." Flywheel: "Marketing can recruit volunteers too, so capacity grows alongside awareness."</a:t>
            </a:r>
            <a:endParaRPr/>
          </a:p>
        </p:txBody>
      </p:sp>
      <p:sp>
        <p:nvSpPr>
          <p:cNvPr id="119" name="Google Shape;1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 seconds. Slow down here — Hey Sam serves minors, and judges from Samaritans will care most about this. "Privacy isn't a rule we added. It's built into the pipeline. Everything becomes counts per hour, per campaign, per age group. Any group smaller than 10 people is hidden, so no one can be singled out. And no message content ever reaches the dashboard. Volunteers get the same protection: load is shown by shift, never ranked by individual."</a:t>
            </a:r>
            <a:endParaRPr/>
          </a:p>
        </p:txBody>
      </p:sp>
      <p:sp>
        <p:nvSpPr>
          <p:cNvPr id="138" name="Google Shape;1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seconds. This slide is for Feasibility, historically our weakest criterion, so be specific. "No new systems, no engineers, no new hires. Phase 1 uses Salesforce, which Samaritans already has, plus Google's free Looker Studio. One staff member reviews one number for 30 minutes a week. Week 1: add 'How did you hear about Hey Sam?' to the post-chat survey and agree on campaign link naming. Phase 2 adds the signals, and shares the weekly summary with the Hey Sam Youth Advisory Board. Phase 3 comes as the new capacity comes online. The dashboard grows responsibly — just like the service." If asked about constraints: data will be messy at first; a volunteer data fellow or a student team like Hack4Impact can build Phase 1 and hand it off.</a:t>
            </a:r>
            <a:endParaRPr/>
          </a:p>
        </p:txBody>
      </p:sp>
      <p:sp>
        <p:nvSpPr>
          <p:cNvPr id="148" name="Google Shape;14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seconds. Land it: "The goal isn't more clicks. It's more young people getting a high-quality human connection — sustainably. Thank you." Then pause and take questions. Likely questions: How is 'sustainable capacity' set? (Samaritans chooses the buffer, e.g. 20% below available coverage, and can adjust it.) How do you attribute texts to campaigns without tracking people? (Campaign-specific links or QR codes, a survey question, and comparing text volume to a forecasted baseline — all aggregate.)</a:t>
            </a:r>
            <a:endParaRPr/>
          </a:p>
        </p:txBody>
      </p:sp>
      <p:sp>
        <p:nvSpPr>
          <p:cNvPr id="171" name="Google Shape;17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dribeiro0/H4I-HeySam-Builda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A2B"/>
        </a:solidFill>
      </p:bgPr>
    </p:bg>
    <p:spTree>
      <p:nvGrpSpPr>
        <p:cNvPr id="15" name="Shape 15"/>
        <p:cNvGrpSpPr/>
        <p:nvPr/>
      </p:nvGrpSpPr>
      <p:grpSpPr>
        <a:xfrm>
          <a:off x="0" y="0"/>
          <a:ext cx="0" cy="0"/>
          <a:chOff x="0" y="0"/>
          <a:chExt cx="0" cy="0"/>
        </a:xfrm>
      </p:grpSpPr>
      <p:sp>
        <p:nvSpPr>
          <p:cNvPr id="16" name="Google Shape;16;p3"/>
          <p:cNvSpPr/>
          <p:nvPr/>
        </p:nvSpPr>
        <p:spPr>
          <a:xfrm>
            <a:off x="7937500" y="1079500"/>
            <a:ext cx="2794000" cy="1778000"/>
          </a:xfrm>
          <a:prstGeom prst="roundRect">
            <a:avLst>
              <a:gd fmla="val 25714" name="adj"/>
            </a:avLst>
          </a:prstGeom>
          <a:solidFill>
            <a:srgbClr val="F7F5EF"/>
          </a:solidFill>
          <a:ln cap="flat" cmpd="sng" w="12700">
            <a:solidFill>
              <a:srgbClr val="F7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rot="2700000">
            <a:off x="8318500" y="2571750"/>
            <a:ext cx="508000" cy="508000"/>
          </a:xfrm>
          <a:prstGeom prst="rect">
            <a:avLst/>
          </a:prstGeom>
          <a:solidFill>
            <a:srgbClr val="F7F5EF"/>
          </a:solidFill>
          <a:ln cap="flat" cmpd="sng" w="12700">
            <a:solidFill>
              <a:srgbClr val="F7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nvSpPr>
        <p:spPr>
          <a:xfrm>
            <a:off x="7937500" y="1079500"/>
            <a:ext cx="2794000" cy="177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3600"/>
              <a:buFont typeface="Outfit"/>
              <a:buNone/>
            </a:pPr>
            <a:r>
              <a:rPr b="1" i="0" lang="en-US" sz="3600" u="none" cap="none" strike="noStrike">
                <a:solidFill>
                  <a:srgbClr val="151A2B"/>
                </a:solidFill>
                <a:latin typeface="Outfit"/>
                <a:ea typeface="Outfit"/>
                <a:cs typeface="Outfit"/>
                <a:sym typeface="Outfit"/>
              </a:rPr>
              <a:t>Ready?</a:t>
            </a:r>
            <a:endParaRPr b="0" i="0" sz="3600" u="none" cap="none" strike="noStrike">
              <a:solidFill>
                <a:schemeClr val="dk1"/>
              </a:solidFill>
              <a:latin typeface="Calibri"/>
              <a:ea typeface="Calibri"/>
              <a:cs typeface="Calibri"/>
              <a:sym typeface="Calibri"/>
            </a:endParaRPr>
          </a:p>
        </p:txBody>
      </p:sp>
      <p:sp>
        <p:nvSpPr>
          <p:cNvPr id="19" name="Google Shape;19;p3"/>
          <p:cNvSpPr/>
          <p:nvPr/>
        </p:nvSpPr>
        <p:spPr>
          <a:xfrm>
            <a:off x="9525000" y="3302000"/>
            <a:ext cx="1524000" cy="1524000"/>
          </a:xfrm>
          <a:prstGeom prst="ellipse">
            <a:avLst/>
          </a:prstGeom>
          <a:solidFill>
            <a:srgbClr val="23B00D"/>
          </a:solidFill>
          <a:ln cap="flat" cmpd="sng" w="12700">
            <a:solidFill>
              <a:srgbClr val="23B0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445500" y="4191000"/>
            <a:ext cx="1079500" cy="1079500"/>
          </a:xfrm>
          <a:prstGeom prst="ellipse">
            <a:avLst/>
          </a:prstGeom>
          <a:solidFill>
            <a:srgbClr val="3366FF"/>
          </a:solidFill>
          <a:ln cap="flat" cmpd="sng" w="12700">
            <a:solidFill>
              <a:srgbClr val="336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nvSpPr>
        <p:spPr>
          <a:xfrm>
            <a:off x="812800" y="1905000"/>
            <a:ext cx="6858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D88A"/>
              </a:buClr>
              <a:buSzPts val="1200"/>
              <a:buFont typeface="Nunito Sans"/>
              <a:buNone/>
            </a:pPr>
            <a:r>
              <a:rPr b="1" i="0" lang="en-US" sz="1200" u="none" cap="none" strike="noStrike">
                <a:solidFill>
                  <a:srgbClr val="7BD88A"/>
                </a:solidFill>
                <a:latin typeface="Nunito Sans"/>
                <a:ea typeface="Nunito Sans"/>
                <a:cs typeface="Nunito Sans"/>
                <a:sym typeface="Nunito Sans"/>
              </a:rPr>
              <a:t>SAMARITANS · HACK4IMPACT BUILD-A-THON</a:t>
            </a:r>
            <a:endParaRPr b="0" i="0" sz="1200" u="none" cap="none" strike="noStrike">
              <a:solidFill>
                <a:schemeClr val="dk1"/>
              </a:solidFill>
              <a:latin typeface="Calibri"/>
              <a:ea typeface="Calibri"/>
              <a:cs typeface="Calibri"/>
              <a:sym typeface="Calibri"/>
            </a:endParaRPr>
          </a:p>
        </p:txBody>
      </p:sp>
      <p:sp>
        <p:nvSpPr>
          <p:cNvPr id="22" name="Google Shape;22;p3"/>
          <p:cNvSpPr txBox="1"/>
          <p:nvPr/>
        </p:nvSpPr>
        <p:spPr>
          <a:xfrm>
            <a:off x="812800" y="2286000"/>
            <a:ext cx="6985000" cy="165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7F5EF"/>
              </a:buClr>
              <a:buSzPts val="5600"/>
              <a:buFont typeface="Outfit"/>
              <a:buNone/>
            </a:pPr>
            <a:r>
              <a:rPr b="1" i="0" lang="en-US" sz="5600" u="none" cap="none" strike="noStrike">
                <a:solidFill>
                  <a:srgbClr val="F7F5EF"/>
                </a:solidFill>
                <a:latin typeface="Outfit"/>
                <a:ea typeface="Outfit"/>
                <a:cs typeface="Outfit"/>
                <a:sym typeface="Outfit"/>
              </a:rPr>
              <a:t>Hey Sam</a:t>
            </a:r>
            <a:endParaRPr b="0" i="0" sz="5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BD88A"/>
              </a:buClr>
              <a:buSzPts val="5600"/>
              <a:buFont typeface="Outfit"/>
              <a:buNone/>
            </a:pPr>
            <a:r>
              <a:rPr b="1" i="0" lang="en-US" sz="5600" u="none" cap="none" strike="noStrike">
                <a:solidFill>
                  <a:srgbClr val="7BD88A"/>
                </a:solidFill>
                <a:latin typeface="Outfit"/>
                <a:ea typeface="Outfit"/>
                <a:cs typeface="Outfit"/>
                <a:sym typeface="Outfit"/>
              </a:rPr>
              <a:t>Connection Pulse</a:t>
            </a:r>
            <a:endParaRPr b="0" i="0" sz="5600" u="none" cap="none" strike="noStrike">
              <a:solidFill>
                <a:schemeClr val="dk1"/>
              </a:solidFill>
              <a:latin typeface="Calibri"/>
              <a:ea typeface="Calibri"/>
              <a:cs typeface="Calibri"/>
              <a:sym typeface="Calibri"/>
            </a:endParaRPr>
          </a:p>
        </p:txBody>
      </p:sp>
      <p:sp>
        <p:nvSpPr>
          <p:cNvPr id="23" name="Google Shape;23;p3"/>
          <p:cNvSpPr txBox="1"/>
          <p:nvPr/>
        </p:nvSpPr>
        <p:spPr>
          <a:xfrm>
            <a:off x="812800" y="4127500"/>
            <a:ext cx="6350000" cy="82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2200"/>
              <a:buFont typeface="Nunito Sans"/>
              <a:buNone/>
            </a:pPr>
            <a:r>
              <a:rPr b="0" i="0" lang="en-US" sz="2200" u="none" cap="none" strike="noStrike">
                <a:solidFill>
                  <a:srgbClr val="C4C9D8"/>
                </a:solidFill>
                <a:latin typeface="Nunito Sans"/>
                <a:ea typeface="Nunito Sans"/>
                <a:cs typeface="Nunito Sans"/>
                <a:sym typeface="Nunito Sans"/>
              </a:rPr>
              <a:t>Are we ready for the next person who reaches out?</a:t>
            </a:r>
            <a:endParaRPr b="0" i="0" sz="2200" u="none" cap="none" strike="noStrike">
              <a:solidFill>
                <a:srgbClr val="C4C9D8"/>
              </a:solidFill>
              <a:latin typeface="Nunito Sans"/>
              <a:ea typeface="Nunito Sans"/>
              <a:cs typeface="Nunito Sans"/>
              <a:sym typeface="Nunito Sans"/>
            </a:endParaRPr>
          </a:p>
          <a:p>
            <a:pPr indent="0" lvl="0" marL="0" marR="0" rtl="0" algn="l">
              <a:spcBef>
                <a:spcPts val="0"/>
              </a:spcBef>
              <a:spcAft>
                <a:spcPts val="0"/>
              </a:spcAft>
              <a:buClr>
                <a:srgbClr val="C4C9D8"/>
              </a:buClr>
              <a:buSzPts val="2200"/>
              <a:buFont typeface="Nunito Sans"/>
              <a:buNone/>
            </a:pPr>
            <a:r>
              <a:t/>
            </a:r>
            <a:endParaRPr sz="2200">
              <a:solidFill>
                <a:srgbClr val="C4C9D8"/>
              </a:solidFill>
              <a:latin typeface="Nunito Sans"/>
              <a:ea typeface="Nunito Sans"/>
              <a:cs typeface="Nunito Sans"/>
              <a:sym typeface="Nunito Sans"/>
            </a:endParaRPr>
          </a:p>
        </p:txBody>
      </p:sp>
      <p:sp>
        <p:nvSpPr>
          <p:cNvPr id="24" name="Google Shape;24;p3"/>
          <p:cNvSpPr txBox="1"/>
          <p:nvPr/>
        </p:nvSpPr>
        <p:spPr>
          <a:xfrm>
            <a:off x="812800" y="6096000"/>
            <a:ext cx="1016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1B5"/>
              </a:buClr>
              <a:buSzPts val="1200"/>
              <a:buFont typeface="Nunito Sans"/>
              <a:buNone/>
            </a:pPr>
            <a:r>
              <a:rPr lang="en-US" sz="1200">
                <a:solidFill>
                  <a:srgbClr val="9AA1B5"/>
                </a:solidFill>
                <a:latin typeface="Nunito Sans"/>
                <a:ea typeface="Nunito Sans"/>
                <a:cs typeface="Nunito Sans"/>
                <a:sym typeface="Nunito Sans"/>
              </a:rPr>
              <a:t>Yasmine Bridaa</a:t>
            </a:r>
            <a:r>
              <a:rPr b="0" i="0" lang="en-US" sz="1200" u="none" cap="none" strike="noStrike">
                <a:solidFill>
                  <a:srgbClr val="9AA1B5"/>
                </a:solidFill>
                <a:latin typeface="Nunito Sans"/>
                <a:ea typeface="Nunito Sans"/>
                <a:cs typeface="Nunito Sans"/>
                <a:sym typeface="Nunito Sans"/>
              </a:rPr>
              <a:t> </a:t>
            </a:r>
            <a:r>
              <a:rPr lang="en-US" sz="1200">
                <a:solidFill>
                  <a:srgbClr val="9AA1B5"/>
                </a:solidFill>
                <a:latin typeface="Nunito Sans"/>
                <a:ea typeface="Nunito Sans"/>
                <a:cs typeface="Nunito Sans"/>
                <a:sym typeface="Nunito Sans"/>
              </a:rPr>
              <a:t>· David Ribeiro </a:t>
            </a:r>
            <a:r>
              <a:rPr b="0" i="0" lang="en-US" sz="1200" u="none" cap="none" strike="noStrike">
                <a:solidFill>
                  <a:srgbClr val="9AA1B5"/>
                </a:solidFill>
                <a:latin typeface="Nunito Sans"/>
                <a:ea typeface="Nunito Sans"/>
                <a:cs typeface="Nunito Sans"/>
                <a:sym typeface="Nunito Sans"/>
              </a:rPr>
              <a:t>· </a:t>
            </a:r>
            <a:r>
              <a:rPr lang="en-US" sz="1200">
                <a:solidFill>
                  <a:srgbClr val="9AA1B5"/>
                </a:solidFill>
                <a:latin typeface="Nunito Sans"/>
                <a:ea typeface="Nunito Sans"/>
                <a:cs typeface="Nunito Sans"/>
                <a:sym typeface="Nunito Sans"/>
              </a:rPr>
              <a:t>Andres Lopez · Shuyi Li</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9" name="Shape 29"/>
        <p:cNvGrpSpPr/>
        <p:nvPr/>
      </p:nvGrpSpPr>
      <p:grpSpPr>
        <a:xfrm>
          <a:off x="0" y="0"/>
          <a:ext cx="0" cy="0"/>
          <a:chOff x="0" y="0"/>
          <a:chExt cx="0" cy="0"/>
        </a:xfrm>
      </p:grpSpPr>
      <p:sp>
        <p:nvSpPr>
          <p:cNvPr id="30" name="Google Shape;30;p4"/>
          <p:cNvSpPr/>
          <p:nvPr/>
        </p:nvSpPr>
        <p:spPr>
          <a:xfrm>
            <a:off x="9906000" y="812800"/>
            <a:ext cx="1270000" cy="1270000"/>
          </a:xfrm>
          <a:prstGeom prst="ellipse">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9334500" y="1714500"/>
            <a:ext cx="762000" cy="762000"/>
          </a:xfrm>
          <a:prstGeom prst="ellipse">
            <a:avLst/>
          </a:prstGeom>
          <a:solidFill>
            <a:srgbClr val="3366FF"/>
          </a:solidFill>
          <a:ln cap="flat" cmpd="sng" w="12700">
            <a:solidFill>
              <a:srgbClr val="336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txBox="1"/>
          <p:nvPr/>
        </p:nvSpPr>
        <p:spPr>
          <a:xfrm>
            <a:off x="812800" y="20955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E35"/>
              </a:buClr>
              <a:buSzPts val="1200"/>
              <a:buFont typeface="Nunito Sans"/>
              <a:buNone/>
            </a:pPr>
            <a:r>
              <a:rPr b="1" i="0" lang="en-US" sz="1200" u="none" cap="none" strike="noStrike">
                <a:solidFill>
                  <a:srgbClr val="2B6E35"/>
                </a:solidFill>
                <a:latin typeface="Nunito Sans"/>
                <a:ea typeface="Nunito Sans"/>
                <a:cs typeface="Nunito Sans"/>
                <a:sym typeface="Nunito Sans"/>
              </a:rPr>
              <a:t>THE REFRAME</a:t>
            </a:r>
            <a:endParaRPr b="0" i="0" sz="1200" u="none" cap="none" strike="noStrike">
              <a:solidFill>
                <a:schemeClr val="dk1"/>
              </a:solidFill>
              <a:latin typeface="Calibri"/>
              <a:ea typeface="Calibri"/>
              <a:cs typeface="Calibri"/>
              <a:sym typeface="Calibri"/>
            </a:endParaRPr>
          </a:p>
        </p:txBody>
      </p:sp>
      <p:sp>
        <p:nvSpPr>
          <p:cNvPr id="33" name="Google Shape;33;p4"/>
          <p:cNvSpPr txBox="1"/>
          <p:nvPr/>
        </p:nvSpPr>
        <p:spPr>
          <a:xfrm>
            <a:off x="812800" y="2413000"/>
            <a:ext cx="8255000" cy="1079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3600"/>
              <a:buFont typeface="Outfit"/>
              <a:buNone/>
            </a:pPr>
            <a:r>
              <a:rPr b="0" i="0" lang="en-US" sz="3600" u="none" cap="none" strike="noStrike">
                <a:solidFill>
                  <a:srgbClr val="4A5163"/>
                </a:solidFill>
                <a:latin typeface="Outfit"/>
                <a:ea typeface="Outfit"/>
                <a:cs typeface="Outfit"/>
                <a:sym typeface="Outfit"/>
              </a:rPr>
              <a:t>Most dashboards ask whether marketing worked.</a:t>
            </a:r>
            <a:endParaRPr b="0" i="0" sz="3600" u="none" cap="none" strike="noStrike">
              <a:solidFill>
                <a:schemeClr val="dk1"/>
              </a:solidFill>
              <a:latin typeface="Calibri"/>
              <a:ea typeface="Calibri"/>
              <a:cs typeface="Calibri"/>
              <a:sym typeface="Calibri"/>
            </a:endParaRPr>
          </a:p>
        </p:txBody>
      </p:sp>
      <p:sp>
        <p:nvSpPr>
          <p:cNvPr id="34" name="Google Shape;34;p4"/>
          <p:cNvSpPr txBox="1"/>
          <p:nvPr/>
        </p:nvSpPr>
        <p:spPr>
          <a:xfrm>
            <a:off x="812800" y="3683000"/>
            <a:ext cx="8255000" cy="165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4800"/>
              <a:buFont typeface="Outfit"/>
              <a:buNone/>
            </a:pPr>
            <a:r>
              <a:rPr b="1" i="0" lang="en-US" sz="4800" u="none" cap="none" strike="noStrike">
                <a:solidFill>
                  <a:srgbClr val="151A2B"/>
                </a:solidFill>
                <a:latin typeface="Outfit"/>
                <a:ea typeface="Outfit"/>
                <a:cs typeface="Outfit"/>
                <a:sym typeface="Outfit"/>
              </a:rPr>
              <a:t>We asked: what happens when it does?</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A2B"/>
        </a:solidFill>
      </p:bgPr>
    </p:bg>
    <p:spTree>
      <p:nvGrpSpPr>
        <p:cNvPr id="39" name="Shape 39"/>
        <p:cNvGrpSpPr/>
        <p:nvPr/>
      </p:nvGrpSpPr>
      <p:grpSpPr>
        <a:xfrm>
          <a:off x="0" y="0"/>
          <a:ext cx="0" cy="0"/>
          <a:chOff x="0" y="0"/>
          <a:chExt cx="0" cy="0"/>
        </a:xfrm>
      </p:grpSpPr>
      <p:sp>
        <p:nvSpPr>
          <p:cNvPr id="40" name="Google Shape;40;p5"/>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D88A"/>
              </a:buClr>
              <a:buSzPts val="1200"/>
              <a:buFont typeface="Nunito Sans"/>
              <a:buNone/>
            </a:pPr>
            <a:r>
              <a:rPr b="1" i="0" lang="en-US" sz="1200" u="none" cap="none" strike="noStrike">
                <a:solidFill>
                  <a:srgbClr val="7BD88A"/>
                </a:solidFill>
                <a:latin typeface="Nunito Sans"/>
                <a:ea typeface="Nunito Sans"/>
                <a:cs typeface="Nunito Sans"/>
                <a:sym typeface="Nunito Sans"/>
              </a:rPr>
              <a:t>WHO IT SERVES</a:t>
            </a:r>
            <a:endParaRPr b="0" i="0" sz="1200" u="none" cap="none" strike="noStrike">
              <a:solidFill>
                <a:schemeClr val="dk1"/>
              </a:solidFill>
              <a:latin typeface="Calibri"/>
              <a:ea typeface="Calibri"/>
              <a:cs typeface="Calibri"/>
              <a:sym typeface="Calibri"/>
            </a:endParaRPr>
          </a:p>
        </p:txBody>
      </p:sp>
      <p:sp>
        <p:nvSpPr>
          <p:cNvPr id="41" name="Google Shape;41;p5"/>
          <p:cNvSpPr txBox="1"/>
          <p:nvPr/>
        </p:nvSpPr>
        <p:spPr>
          <a:xfrm>
            <a:off x="812800" y="1079500"/>
            <a:ext cx="105664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3600"/>
              <a:buFont typeface="Outfit"/>
              <a:buNone/>
            </a:pPr>
            <a:r>
              <a:rPr b="1" i="0" lang="en-US" sz="3600" u="none" cap="none" strike="noStrike">
                <a:solidFill>
                  <a:srgbClr val="F7F5EF"/>
                </a:solidFill>
                <a:latin typeface="Outfit"/>
                <a:ea typeface="Outfit"/>
                <a:cs typeface="Outfit"/>
                <a:sym typeface="Outfit"/>
              </a:rPr>
              <a:t>Every connection has two young people in it</a:t>
            </a:r>
            <a:endParaRPr b="0" i="0" sz="3600" u="none" cap="none" strike="noStrike">
              <a:solidFill>
                <a:schemeClr val="dk1"/>
              </a:solidFill>
              <a:latin typeface="Calibri"/>
              <a:ea typeface="Calibri"/>
              <a:cs typeface="Calibri"/>
              <a:sym typeface="Calibri"/>
            </a:endParaRPr>
          </a:p>
        </p:txBody>
      </p:sp>
      <p:sp>
        <p:nvSpPr>
          <p:cNvPr id="42" name="Google Shape;42;p5"/>
          <p:cNvSpPr/>
          <p:nvPr/>
        </p:nvSpPr>
        <p:spPr>
          <a:xfrm>
            <a:off x="812800" y="2413000"/>
            <a:ext cx="5130800" cy="2730500"/>
          </a:xfrm>
          <a:prstGeom prst="roundRect">
            <a:avLst>
              <a:gd fmla="val 9377" name="adj"/>
            </a:avLst>
          </a:prstGeom>
          <a:solidFill>
            <a:srgbClr val="1F2640"/>
          </a:solidFill>
          <a:ln cap="flat" cmpd="sng" w="12700">
            <a:solidFill>
              <a:srgbClr val="1F26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5"/>
          <p:cNvPicPr preferRelativeResize="0"/>
          <p:nvPr/>
        </p:nvPicPr>
        <p:blipFill rotWithShape="1">
          <a:blip r:embed="rId3">
            <a:alphaModFix/>
          </a:blip>
          <a:srcRect b="0" l="0" r="0" t="0"/>
          <a:stretch/>
        </p:blipFill>
        <p:spPr>
          <a:xfrm>
            <a:off x="1168400" y="2730500"/>
            <a:ext cx="406400" cy="406400"/>
          </a:xfrm>
          <a:prstGeom prst="rect">
            <a:avLst/>
          </a:prstGeom>
          <a:noFill/>
          <a:ln>
            <a:noFill/>
          </a:ln>
        </p:spPr>
      </p:pic>
      <p:sp>
        <p:nvSpPr>
          <p:cNvPr id="44" name="Google Shape;44;p5"/>
          <p:cNvSpPr txBox="1"/>
          <p:nvPr/>
        </p:nvSpPr>
        <p:spPr>
          <a:xfrm>
            <a:off x="1168400" y="3302000"/>
            <a:ext cx="444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E3F4"/>
              </a:buClr>
              <a:buSzPts val="1200"/>
              <a:buFont typeface="Nunito Sans"/>
              <a:buNone/>
            </a:pPr>
            <a:r>
              <a:rPr b="1" i="0" lang="en-US" sz="1200" u="none" cap="none" strike="noStrike">
                <a:solidFill>
                  <a:srgbClr val="A8E3F4"/>
                </a:solidFill>
                <a:latin typeface="Nunito Sans"/>
                <a:ea typeface="Nunito Sans"/>
                <a:cs typeface="Nunito Sans"/>
                <a:sym typeface="Nunito Sans"/>
              </a:rPr>
              <a:t>REACHING OUT</a:t>
            </a:r>
            <a:endParaRPr b="0" i="0" sz="1200" u="none" cap="none" strike="noStrike">
              <a:solidFill>
                <a:schemeClr val="dk1"/>
              </a:solidFill>
              <a:latin typeface="Calibri"/>
              <a:ea typeface="Calibri"/>
              <a:cs typeface="Calibri"/>
              <a:sym typeface="Calibri"/>
            </a:endParaRPr>
          </a:p>
        </p:txBody>
      </p:sp>
      <p:sp>
        <p:nvSpPr>
          <p:cNvPr id="45" name="Google Shape;45;p5"/>
          <p:cNvSpPr txBox="1"/>
          <p:nvPr/>
        </p:nvSpPr>
        <p:spPr>
          <a:xfrm>
            <a:off x="1168400" y="3619500"/>
            <a:ext cx="4445000" cy="44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Young people up to age 24</a:t>
            </a:r>
            <a:endParaRPr b="0" i="0" sz="2200" u="none" cap="none" strike="noStrike">
              <a:solidFill>
                <a:schemeClr val="dk1"/>
              </a:solidFill>
              <a:latin typeface="Calibri"/>
              <a:ea typeface="Calibri"/>
              <a:cs typeface="Calibri"/>
              <a:sym typeface="Calibri"/>
            </a:endParaRPr>
          </a:p>
        </p:txBody>
      </p:sp>
      <p:sp>
        <p:nvSpPr>
          <p:cNvPr id="46" name="Google Shape;46;p5"/>
          <p:cNvSpPr txBox="1"/>
          <p:nvPr/>
        </p:nvSpPr>
        <p:spPr>
          <a:xfrm>
            <a:off x="1168400" y="4191000"/>
            <a:ext cx="44450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Texting 439-726, 9 AM to midnight</a:t>
            </a:r>
            <a:endParaRPr b="0" i="0" sz="1600" u="none" cap="none" strike="noStrike">
              <a:solidFill>
                <a:schemeClr val="dk1"/>
              </a:solidFill>
              <a:latin typeface="Calibri"/>
              <a:ea typeface="Calibri"/>
              <a:cs typeface="Calibri"/>
              <a:sym typeface="Calibri"/>
            </a:endParaRPr>
          </a:p>
        </p:txBody>
      </p:sp>
      <p:sp>
        <p:nvSpPr>
          <p:cNvPr id="47" name="Google Shape;47;p5"/>
          <p:cNvSpPr/>
          <p:nvPr/>
        </p:nvSpPr>
        <p:spPr>
          <a:xfrm>
            <a:off x="6248400" y="2413000"/>
            <a:ext cx="5130800" cy="2730500"/>
          </a:xfrm>
          <a:prstGeom prst="roundRect">
            <a:avLst>
              <a:gd fmla="val 9377" name="adj"/>
            </a:avLst>
          </a:prstGeom>
          <a:solidFill>
            <a:srgbClr val="1F2640"/>
          </a:solidFill>
          <a:ln cap="flat" cmpd="sng" w="12700">
            <a:solidFill>
              <a:srgbClr val="1F26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5"/>
          <p:cNvPicPr preferRelativeResize="0"/>
          <p:nvPr/>
        </p:nvPicPr>
        <p:blipFill rotWithShape="1">
          <a:blip r:embed="rId4">
            <a:alphaModFix/>
          </a:blip>
          <a:srcRect b="0" l="0" r="0" t="0"/>
          <a:stretch/>
        </p:blipFill>
        <p:spPr>
          <a:xfrm>
            <a:off x="6604000" y="2730500"/>
            <a:ext cx="406400" cy="406400"/>
          </a:xfrm>
          <a:prstGeom prst="rect">
            <a:avLst/>
          </a:prstGeom>
          <a:noFill/>
          <a:ln>
            <a:noFill/>
          </a:ln>
        </p:spPr>
      </p:pic>
      <p:sp>
        <p:nvSpPr>
          <p:cNvPr id="49" name="Google Shape;49;p5"/>
          <p:cNvSpPr txBox="1"/>
          <p:nvPr/>
        </p:nvSpPr>
        <p:spPr>
          <a:xfrm>
            <a:off x="6604000" y="3302000"/>
            <a:ext cx="444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6A6C7"/>
              </a:buClr>
              <a:buSzPts val="1200"/>
              <a:buFont typeface="Nunito Sans"/>
              <a:buNone/>
            </a:pPr>
            <a:r>
              <a:rPr b="1" i="0" lang="en-US" sz="1200" u="none" cap="none" strike="noStrike">
                <a:solidFill>
                  <a:srgbClr val="F6A6C7"/>
                </a:solidFill>
                <a:latin typeface="Nunito Sans"/>
                <a:ea typeface="Nunito Sans"/>
                <a:cs typeface="Nunito Sans"/>
                <a:sym typeface="Nunito Sans"/>
              </a:rPr>
              <a:t>LISTENING</a:t>
            </a:r>
            <a:endParaRPr b="0" i="0" sz="1200" u="none" cap="none" strike="noStrike">
              <a:solidFill>
                <a:schemeClr val="dk1"/>
              </a:solidFill>
              <a:latin typeface="Calibri"/>
              <a:ea typeface="Calibri"/>
              <a:cs typeface="Calibri"/>
              <a:sym typeface="Calibri"/>
            </a:endParaRPr>
          </a:p>
        </p:txBody>
      </p:sp>
      <p:sp>
        <p:nvSpPr>
          <p:cNvPr id="50" name="Google Shape;50;p5"/>
          <p:cNvSpPr txBox="1"/>
          <p:nvPr/>
        </p:nvSpPr>
        <p:spPr>
          <a:xfrm>
            <a:off x="6604000" y="3619500"/>
            <a:ext cx="4445000" cy="44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Peer volunteers aged 15–24</a:t>
            </a:r>
            <a:endParaRPr b="0" i="0" sz="2200" u="none" cap="none" strike="noStrike">
              <a:solidFill>
                <a:schemeClr val="dk1"/>
              </a:solidFill>
              <a:latin typeface="Calibri"/>
              <a:ea typeface="Calibri"/>
              <a:cs typeface="Calibri"/>
              <a:sym typeface="Calibri"/>
            </a:endParaRPr>
          </a:p>
        </p:txBody>
      </p:sp>
      <p:sp>
        <p:nvSpPr>
          <p:cNvPr id="51" name="Google Shape;51;p5"/>
          <p:cNvSpPr txBox="1"/>
          <p:nvPr/>
        </p:nvSpPr>
        <p:spPr>
          <a:xfrm>
            <a:off x="6604000" y="4191000"/>
            <a:ext cx="44450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A consistent 4-hour shift, every week</a:t>
            </a:r>
            <a:endParaRPr b="0" i="0" sz="1600" u="none" cap="none" strike="noStrike">
              <a:solidFill>
                <a:schemeClr val="dk1"/>
              </a:solidFill>
              <a:latin typeface="Calibri"/>
              <a:ea typeface="Calibri"/>
              <a:cs typeface="Calibri"/>
              <a:sym typeface="Calibri"/>
            </a:endParaRPr>
          </a:p>
        </p:txBody>
      </p:sp>
      <p:sp>
        <p:nvSpPr>
          <p:cNvPr id="52" name="Google Shape;52;p5"/>
          <p:cNvSpPr txBox="1"/>
          <p:nvPr/>
        </p:nvSpPr>
        <p:spPr>
          <a:xfrm>
            <a:off x="812800" y="5511800"/>
            <a:ext cx="10566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D88A"/>
              </a:buClr>
              <a:buSzPts val="2200"/>
              <a:buFont typeface="Outfit"/>
              <a:buNone/>
            </a:pPr>
            <a:r>
              <a:rPr b="1" i="0" lang="en-US" sz="2200" u="none" cap="none" strike="noStrike">
                <a:solidFill>
                  <a:srgbClr val="7BD88A"/>
                </a:solidFill>
                <a:latin typeface="Outfit"/>
                <a:ea typeface="Outfit"/>
                <a:cs typeface="Outfit"/>
                <a:sym typeface="Outfit"/>
              </a:rPr>
              <a:t>A healthy system cares for both sides.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7" name="Shape 57"/>
        <p:cNvGrpSpPr/>
        <p:nvPr/>
      </p:nvGrpSpPr>
      <p:grpSpPr>
        <a:xfrm>
          <a:off x="0" y="0"/>
          <a:ext cx="0" cy="0"/>
          <a:chOff x="0" y="0"/>
          <a:chExt cx="0" cy="0"/>
        </a:xfrm>
      </p:grpSpPr>
      <p:sp>
        <p:nvSpPr>
          <p:cNvPr id="58" name="Google Shape;58;p6"/>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E35"/>
              </a:buClr>
              <a:buSzPts val="1200"/>
              <a:buFont typeface="Nunito Sans"/>
              <a:buNone/>
            </a:pPr>
            <a:r>
              <a:rPr b="1" i="0" lang="en-US" sz="1200" u="none" cap="none" strike="noStrike">
                <a:solidFill>
                  <a:srgbClr val="2B6E35"/>
                </a:solidFill>
                <a:latin typeface="Nunito Sans"/>
                <a:ea typeface="Nunito Sans"/>
                <a:cs typeface="Nunito Sans"/>
                <a:sym typeface="Nunito Sans"/>
              </a:rPr>
              <a:t>CONNECTION PULSE</a:t>
            </a:r>
            <a:endParaRPr b="0" i="0" sz="1200" u="none" cap="none" strike="noStrike">
              <a:solidFill>
                <a:schemeClr val="dk1"/>
              </a:solidFill>
              <a:latin typeface="Calibri"/>
              <a:ea typeface="Calibri"/>
              <a:cs typeface="Calibri"/>
              <a:sym typeface="Calibri"/>
            </a:endParaRPr>
          </a:p>
        </p:txBody>
      </p:sp>
      <p:sp>
        <p:nvSpPr>
          <p:cNvPr id="59" name="Google Shape;59;p6"/>
          <p:cNvSpPr txBox="1"/>
          <p:nvPr/>
        </p:nvSpPr>
        <p:spPr>
          <a:xfrm>
            <a:off x="812800" y="1079500"/>
            <a:ext cx="105664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3600"/>
              <a:buFont typeface="Outfit"/>
              <a:buNone/>
            </a:pPr>
            <a:r>
              <a:rPr b="1" i="0" lang="en-US" sz="3600" u="none" cap="none" strike="noStrike">
                <a:solidFill>
                  <a:srgbClr val="151A2B"/>
                </a:solidFill>
                <a:latin typeface="Outfit"/>
                <a:ea typeface="Outfit"/>
                <a:cs typeface="Outfit"/>
                <a:sym typeface="Outfit"/>
              </a:rPr>
              <a:t>One system, not four reports</a:t>
            </a:r>
            <a:endParaRPr b="0" i="0" sz="3600" u="none" cap="none" strike="noStrike">
              <a:solidFill>
                <a:schemeClr val="dk1"/>
              </a:solidFill>
              <a:latin typeface="Calibri"/>
              <a:ea typeface="Calibri"/>
              <a:cs typeface="Calibri"/>
              <a:sym typeface="Calibri"/>
            </a:endParaRPr>
          </a:p>
        </p:txBody>
      </p:sp>
      <p:sp>
        <p:nvSpPr>
          <p:cNvPr id="60" name="Google Shape;60;p6"/>
          <p:cNvSpPr/>
          <p:nvPr/>
        </p:nvSpPr>
        <p:spPr>
          <a:xfrm>
            <a:off x="812800" y="2667000"/>
            <a:ext cx="1727200" cy="889000"/>
          </a:xfrm>
          <a:prstGeom prst="roundRect">
            <a:avLst>
              <a:gd fmla="val 20571" name="adj"/>
            </a:avLst>
          </a:prstGeom>
          <a:solidFill>
            <a:srgbClr val="151A2B"/>
          </a:solidFill>
          <a:ln cap="flat" cmpd="sng" w="12700">
            <a:solidFill>
              <a:srgbClr val="15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txBox="1"/>
          <p:nvPr/>
        </p:nvSpPr>
        <p:spPr>
          <a:xfrm>
            <a:off x="889000" y="2667000"/>
            <a:ext cx="1574800" cy="8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500"/>
              <a:buFont typeface="Outfit"/>
              <a:buNone/>
            </a:pPr>
            <a:r>
              <a:rPr b="1" i="0" lang="en-US" sz="1500" u="none" cap="none" strike="noStrike">
                <a:solidFill>
                  <a:srgbClr val="F7F5EF"/>
                </a:solidFill>
                <a:latin typeface="Outfit"/>
                <a:ea typeface="Outfit"/>
                <a:cs typeface="Outfit"/>
                <a:sym typeface="Outfit"/>
              </a:rPr>
              <a:t>Awareness</a:t>
            </a:r>
            <a:endParaRPr b="0" i="0" sz="1500" u="none" cap="none" strike="noStrike">
              <a:solidFill>
                <a:schemeClr val="dk1"/>
              </a:solidFill>
              <a:latin typeface="Calibri"/>
              <a:ea typeface="Calibri"/>
              <a:cs typeface="Calibri"/>
              <a:sym typeface="Calibri"/>
            </a:endParaRPr>
          </a:p>
        </p:txBody>
      </p:sp>
      <p:sp>
        <p:nvSpPr>
          <p:cNvPr id="62" name="Google Shape;62;p6"/>
          <p:cNvSpPr/>
          <p:nvPr/>
        </p:nvSpPr>
        <p:spPr>
          <a:xfrm>
            <a:off x="2616200" y="3035300"/>
            <a:ext cx="304800" cy="152400"/>
          </a:xfrm>
          <a:prstGeom prst="rightArrow">
            <a:avLst>
              <a:gd fmla="val 50000" name="adj1"/>
              <a:gd fmla="val 50000" name="adj2"/>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2997200" y="2667000"/>
            <a:ext cx="1727200" cy="889000"/>
          </a:xfrm>
          <a:prstGeom prst="roundRect">
            <a:avLst>
              <a:gd fmla="val 20571" name="adj"/>
            </a:avLst>
          </a:prstGeom>
          <a:solidFill>
            <a:srgbClr val="151A2B"/>
          </a:solidFill>
          <a:ln cap="flat" cmpd="sng" w="12700">
            <a:solidFill>
              <a:srgbClr val="15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txBox="1"/>
          <p:nvPr/>
        </p:nvSpPr>
        <p:spPr>
          <a:xfrm>
            <a:off x="3073400" y="2667000"/>
            <a:ext cx="1574800" cy="8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500"/>
              <a:buFont typeface="Outfit"/>
              <a:buNone/>
            </a:pPr>
            <a:r>
              <a:rPr b="1" i="0" lang="en-US" sz="1500" u="none" cap="none" strike="noStrike">
                <a:solidFill>
                  <a:srgbClr val="F7F5EF"/>
                </a:solidFill>
                <a:latin typeface="Outfit"/>
                <a:ea typeface="Outfit"/>
                <a:cs typeface="Outfit"/>
                <a:sym typeface="Outfit"/>
              </a:rPr>
              <a:t>Demand</a:t>
            </a:r>
            <a:endParaRPr b="0" i="0" sz="1500" u="none" cap="none" strike="noStrike">
              <a:solidFill>
                <a:schemeClr val="dk1"/>
              </a:solidFill>
              <a:latin typeface="Calibri"/>
              <a:ea typeface="Calibri"/>
              <a:cs typeface="Calibri"/>
              <a:sym typeface="Calibri"/>
            </a:endParaRPr>
          </a:p>
        </p:txBody>
      </p:sp>
      <p:sp>
        <p:nvSpPr>
          <p:cNvPr id="65" name="Google Shape;65;p6"/>
          <p:cNvSpPr/>
          <p:nvPr/>
        </p:nvSpPr>
        <p:spPr>
          <a:xfrm>
            <a:off x="4800600" y="3035300"/>
            <a:ext cx="304800" cy="152400"/>
          </a:xfrm>
          <a:prstGeom prst="rightArrow">
            <a:avLst>
              <a:gd fmla="val 50000" name="adj1"/>
              <a:gd fmla="val 50000" name="adj2"/>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5181600" y="2667000"/>
            <a:ext cx="1727200" cy="889000"/>
          </a:xfrm>
          <a:prstGeom prst="roundRect">
            <a:avLst>
              <a:gd fmla="val 20571" name="adj"/>
            </a:avLst>
          </a:prstGeom>
          <a:solidFill>
            <a:srgbClr val="151A2B"/>
          </a:solidFill>
          <a:ln cap="flat" cmpd="sng" w="12700">
            <a:solidFill>
              <a:srgbClr val="15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txBox="1"/>
          <p:nvPr/>
        </p:nvSpPr>
        <p:spPr>
          <a:xfrm>
            <a:off x="5257800" y="2667000"/>
            <a:ext cx="1574800" cy="8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500"/>
              <a:buFont typeface="Outfit"/>
              <a:buNone/>
            </a:pPr>
            <a:r>
              <a:rPr b="1" i="0" lang="en-US" sz="1500" u="none" cap="none" strike="noStrike">
                <a:solidFill>
                  <a:srgbClr val="F7F5EF"/>
                </a:solidFill>
                <a:latin typeface="Outfit"/>
                <a:ea typeface="Outfit"/>
                <a:cs typeface="Outfit"/>
                <a:sym typeface="Outfit"/>
              </a:rPr>
              <a:t>Peer capacity</a:t>
            </a:r>
            <a:endParaRPr b="0" i="0" sz="1500" u="none" cap="none" strike="noStrike">
              <a:solidFill>
                <a:schemeClr val="dk1"/>
              </a:solidFill>
              <a:latin typeface="Calibri"/>
              <a:ea typeface="Calibri"/>
              <a:cs typeface="Calibri"/>
              <a:sym typeface="Calibri"/>
            </a:endParaRPr>
          </a:p>
        </p:txBody>
      </p:sp>
      <p:sp>
        <p:nvSpPr>
          <p:cNvPr id="68" name="Google Shape;68;p6"/>
          <p:cNvSpPr/>
          <p:nvPr/>
        </p:nvSpPr>
        <p:spPr>
          <a:xfrm>
            <a:off x="6985000" y="3035300"/>
            <a:ext cx="304800" cy="152400"/>
          </a:xfrm>
          <a:prstGeom prst="rightArrow">
            <a:avLst>
              <a:gd fmla="val 50000" name="adj1"/>
              <a:gd fmla="val 50000" name="adj2"/>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7366000" y="2667000"/>
            <a:ext cx="1727200" cy="889000"/>
          </a:xfrm>
          <a:prstGeom prst="roundRect">
            <a:avLst>
              <a:gd fmla="val 20571" name="adj"/>
            </a:avLst>
          </a:prstGeom>
          <a:solidFill>
            <a:srgbClr val="151A2B"/>
          </a:solidFill>
          <a:ln cap="flat" cmpd="sng" w="12700">
            <a:solidFill>
              <a:srgbClr val="15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txBox="1"/>
          <p:nvPr/>
        </p:nvSpPr>
        <p:spPr>
          <a:xfrm>
            <a:off x="7442200" y="2667000"/>
            <a:ext cx="1574800" cy="8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500"/>
              <a:buFont typeface="Outfit"/>
              <a:buNone/>
            </a:pPr>
            <a:r>
              <a:rPr b="1" i="0" lang="en-US" sz="1500" u="none" cap="none" strike="noStrike">
                <a:solidFill>
                  <a:srgbClr val="F7F5EF"/>
                </a:solidFill>
                <a:latin typeface="Outfit"/>
                <a:ea typeface="Outfit"/>
                <a:cs typeface="Outfit"/>
                <a:sym typeface="Outfit"/>
              </a:rPr>
              <a:t>Volunteer sustainability</a:t>
            </a:r>
            <a:endParaRPr b="0" i="0" sz="1500" u="none" cap="none" strike="noStrike">
              <a:solidFill>
                <a:schemeClr val="dk1"/>
              </a:solidFill>
              <a:latin typeface="Calibri"/>
              <a:ea typeface="Calibri"/>
              <a:cs typeface="Calibri"/>
              <a:sym typeface="Calibri"/>
            </a:endParaRPr>
          </a:p>
        </p:txBody>
      </p:sp>
      <p:sp>
        <p:nvSpPr>
          <p:cNvPr id="71" name="Google Shape;71;p6"/>
          <p:cNvSpPr/>
          <p:nvPr/>
        </p:nvSpPr>
        <p:spPr>
          <a:xfrm>
            <a:off x="9169400" y="3035300"/>
            <a:ext cx="304800" cy="152400"/>
          </a:xfrm>
          <a:prstGeom prst="rightArrow">
            <a:avLst>
              <a:gd fmla="val 50000" name="adj1"/>
              <a:gd fmla="val 50000" name="adj2"/>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9550400" y="2667000"/>
            <a:ext cx="1727200" cy="889000"/>
          </a:xfrm>
          <a:prstGeom prst="roundRect">
            <a:avLst>
              <a:gd fmla="val 20571" name="adj"/>
            </a:avLst>
          </a:prstGeom>
          <a:solidFill>
            <a:srgbClr val="2B6E35"/>
          </a:solidFill>
          <a:ln cap="flat" cmpd="sng" w="12700">
            <a:solidFill>
              <a:srgbClr val="2B6E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txBox="1"/>
          <p:nvPr/>
        </p:nvSpPr>
        <p:spPr>
          <a:xfrm>
            <a:off x="9626600" y="2667000"/>
            <a:ext cx="1574800" cy="88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500"/>
              <a:buFont typeface="Outfit"/>
              <a:buNone/>
            </a:pPr>
            <a:r>
              <a:rPr b="1" i="0" lang="en-US" sz="1500" u="none" cap="none" strike="noStrike">
                <a:solidFill>
                  <a:srgbClr val="F7F5EF"/>
                </a:solidFill>
                <a:latin typeface="Outfit"/>
                <a:ea typeface="Outfit"/>
                <a:cs typeface="Outfit"/>
                <a:sym typeface="Outfit"/>
              </a:rPr>
              <a:t>Human connection</a:t>
            </a:r>
            <a:endParaRPr b="0" i="0" sz="1500" u="none" cap="none" strike="noStrike">
              <a:solidFill>
                <a:schemeClr val="dk1"/>
              </a:solidFill>
              <a:latin typeface="Calibri"/>
              <a:ea typeface="Calibri"/>
              <a:cs typeface="Calibri"/>
              <a:sym typeface="Calibri"/>
            </a:endParaRPr>
          </a:p>
        </p:txBody>
      </p:sp>
      <p:sp>
        <p:nvSpPr>
          <p:cNvPr id="74" name="Google Shape;74;p6"/>
          <p:cNvSpPr txBox="1"/>
          <p:nvPr/>
        </p:nvSpPr>
        <p:spPr>
          <a:xfrm>
            <a:off x="812800" y="4445000"/>
            <a:ext cx="254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200"/>
              <a:buFont typeface="Nunito Sans"/>
              <a:buNone/>
            </a:pPr>
            <a:r>
              <a:rPr b="1" i="0" lang="en-US" sz="1200" u="none" cap="none" strike="noStrike">
                <a:solidFill>
                  <a:srgbClr val="4A5163"/>
                </a:solidFill>
                <a:latin typeface="Nunito Sans"/>
                <a:ea typeface="Nunito Sans"/>
                <a:cs typeface="Nunito Sans"/>
                <a:sym typeface="Nunito Sans"/>
              </a:rPr>
              <a:t>DATA IN</a:t>
            </a:r>
            <a:endParaRPr b="0" i="0" sz="1200" u="none" cap="none" strike="noStrike">
              <a:solidFill>
                <a:schemeClr val="dk1"/>
              </a:solidFill>
              <a:latin typeface="Calibri"/>
              <a:ea typeface="Calibri"/>
              <a:cs typeface="Calibri"/>
              <a:sym typeface="Calibri"/>
            </a:endParaRPr>
          </a:p>
        </p:txBody>
      </p:sp>
      <p:sp>
        <p:nvSpPr>
          <p:cNvPr id="75" name="Google Shape;75;p6"/>
          <p:cNvSpPr/>
          <p:nvPr/>
        </p:nvSpPr>
        <p:spPr>
          <a:xfrm>
            <a:off x="812800" y="4762500"/>
            <a:ext cx="1397000" cy="381000"/>
          </a:xfrm>
          <a:prstGeom prst="roundRect">
            <a:avLst>
              <a:gd fmla="val 50000" name="adj"/>
            </a:avLst>
          </a:prstGeom>
          <a:solidFill>
            <a:srgbClr val="E7E2D6"/>
          </a:solidFill>
          <a:ln cap="flat" cmpd="sng" w="12700">
            <a:solidFill>
              <a:srgbClr val="E7E2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txBox="1"/>
          <p:nvPr/>
        </p:nvSpPr>
        <p:spPr>
          <a:xfrm>
            <a:off x="812800" y="4762500"/>
            <a:ext cx="139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1300"/>
              <a:buFont typeface="Nunito Sans"/>
              <a:buNone/>
            </a:pPr>
            <a:r>
              <a:rPr b="1" i="0" lang="en-US" sz="1300" u="none" cap="none" strike="noStrike">
                <a:solidFill>
                  <a:srgbClr val="151A2B"/>
                </a:solidFill>
                <a:latin typeface="Nunito Sans"/>
                <a:ea typeface="Nunito Sans"/>
                <a:cs typeface="Nunito Sans"/>
                <a:sym typeface="Nunito Sans"/>
              </a:rPr>
              <a:t>Salesforce</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2311400" y="4762500"/>
            <a:ext cx="1905000" cy="381000"/>
          </a:xfrm>
          <a:prstGeom prst="roundRect">
            <a:avLst>
              <a:gd fmla="val 50000" name="adj"/>
            </a:avLst>
          </a:prstGeom>
          <a:solidFill>
            <a:srgbClr val="E7E2D6"/>
          </a:solidFill>
          <a:ln cap="flat" cmpd="sng" w="12700">
            <a:solidFill>
              <a:srgbClr val="E7E2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2311400" y="4762500"/>
            <a:ext cx="1905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1300"/>
              <a:buFont typeface="Nunito Sans"/>
              <a:buNone/>
            </a:pPr>
            <a:r>
              <a:rPr b="1" i="0" lang="en-US" sz="1300" u="none" cap="none" strike="noStrike">
                <a:solidFill>
                  <a:srgbClr val="151A2B"/>
                </a:solidFill>
                <a:latin typeface="Nunito Sans"/>
                <a:ea typeface="Nunito Sans"/>
                <a:cs typeface="Nunito Sans"/>
                <a:sym typeface="Nunito Sans"/>
              </a:rPr>
              <a:t>Google Analytics</a:t>
            </a:r>
            <a:endParaRPr b="0" i="0" sz="1300" u="none" cap="none" strike="noStrike">
              <a:solidFill>
                <a:schemeClr val="dk1"/>
              </a:solidFill>
              <a:latin typeface="Calibri"/>
              <a:ea typeface="Calibri"/>
              <a:cs typeface="Calibri"/>
              <a:sym typeface="Calibri"/>
            </a:endParaRPr>
          </a:p>
        </p:txBody>
      </p:sp>
      <p:sp>
        <p:nvSpPr>
          <p:cNvPr id="79" name="Google Shape;79;p6"/>
          <p:cNvSpPr/>
          <p:nvPr/>
        </p:nvSpPr>
        <p:spPr>
          <a:xfrm>
            <a:off x="4318000" y="4762500"/>
            <a:ext cx="1587500" cy="381000"/>
          </a:xfrm>
          <a:prstGeom prst="roundRect">
            <a:avLst>
              <a:gd fmla="val 50000" name="adj"/>
            </a:avLst>
          </a:prstGeom>
          <a:solidFill>
            <a:srgbClr val="E7E2D6"/>
          </a:solidFill>
          <a:ln cap="flat" cmpd="sng" w="12700">
            <a:solidFill>
              <a:srgbClr val="E7E2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txBox="1"/>
          <p:nvPr/>
        </p:nvSpPr>
        <p:spPr>
          <a:xfrm>
            <a:off x="4318000" y="4762500"/>
            <a:ext cx="15875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1300"/>
              <a:buFont typeface="Nunito Sans"/>
              <a:buNone/>
            </a:pPr>
            <a:r>
              <a:rPr b="1" i="0" lang="en-US" sz="1300" u="none" cap="none" strike="noStrike">
                <a:solidFill>
                  <a:srgbClr val="151A2B"/>
                </a:solidFill>
                <a:latin typeface="Nunito Sans"/>
                <a:ea typeface="Nunito Sans"/>
                <a:cs typeface="Nunito Sans"/>
                <a:sym typeface="Nunito Sans"/>
              </a:rPr>
              <a:t>Social media</a:t>
            </a:r>
            <a:endParaRPr b="0" i="0" sz="1300" u="none" cap="none" strike="noStrike">
              <a:solidFill>
                <a:schemeClr val="dk1"/>
              </a:solidFill>
              <a:latin typeface="Calibri"/>
              <a:ea typeface="Calibri"/>
              <a:cs typeface="Calibri"/>
              <a:sym typeface="Calibri"/>
            </a:endParaRPr>
          </a:p>
        </p:txBody>
      </p:sp>
      <p:sp>
        <p:nvSpPr>
          <p:cNvPr id="81" name="Google Shape;81;p6"/>
          <p:cNvSpPr/>
          <p:nvPr/>
        </p:nvSpPr>
        <p:spPr>
          <a:xfrm>
            <a:off x="6007100" y="4762500"/>
            <a:ext cx="1651000" cy="381000"/>
          </a:xfrm>
          <a:prstGeom prst="roundRect">
            <a:avLst>
              <a:gd fmla="val 50000" name="adj"/>
            </a:avLst>
          </a:prstGeom>
          <a:solidFill>
            <a:srgbClr val="E7E2D6"/>
          </a:solidFill>
          <a:ln cap="flat" cmpd="sng" w="12700">
            <a:solidFill>
              <a:srgbClr val="E7E2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txBox="1"/>
          <p:nvPr/>
        </p:nvSpPr>
        <p:spPr>
          <a:xfrm>
            <a:off x="6007100" y="4762500"/>
            <a:ext cx="1651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1300"/>
              <a:buFont typeface="Nunito Sans"/>
              <a:buNone/>
            </a:pPr>
            <a:r>
              <a:rPr b="1" i="0" lang="en-US" sz="1300" u="none" cap="none" strike="noStrike">
                <a:solidFill>
                  <a:srgbClr val="151A2B"/>
                </a:solidFill>
                <a:latin typeface="Nunito Sans"/>
                <a:ea typeface="Nunito Sans"/>
                <a:cs typeface="Nunito Sans"/>
                <a:sym typeface="Nunito Sans"/>
              </a:rPr>
              <a:t>Excel surveys</a:t>
            </a:r>
            <a:endParaRPr b="0" i="0" sz="1300" u="none" cap="none" strike="noStrike">
              <a:solidFill>
                <a:schemeClr val="dk1"/>
              </a:solidFill>
              <a:latin typeface="Calibri"/>
              <a:ea typeface="Calibri"/>
              <a:cs typeface="Calibri"/>
              <a:sym typeface="Calibri"/>
            </a:endParaRPr>
          </a:p>
        </p:txBody>
      </p:sp>
      <p:sp>
        <p:nvSpPr>
          <p:cNvPr id="83" name="Google Shape;83;p6"/>
          <p:cNvSpPr/>
          <p:nvPr/>
        </p:nvSpPr>
        <p:spPr>
          <a:xfrm>
            <a:off x="7759700" y="4876800"/>
            <a:ext cx="304800" cy="152400"/>
          </a:xfrm>
          <a:prstGeom prst="rightArrow">
            <a:avLst>
              <a:gd fmla="val 50000" name="adj1"/>
              <a:gd fmla="val 50000" name="adj2"/>
            </a:avLst>
          </a:prstGeom>
          <a:solidFill>
            <a:srgbClr val="348540"/>
          </a:solidFill>
          <a:ln cap="flat" cmpd="sng" w="12700">
            <a:solidFill>
              <a:srgbClr val="348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8166100" y="4762500"/>
            <a:ext cx="2286000" cy="381000"/>
          </a:xfrm>
          <a:prstGeom prst="roundRect">
            <a:avLst>
              <a:gd fmla="val 50000" name="adj"/>
            </a:avLst>
          </a:prstGeom>
          <a:solidFill>
            <a:srgbClr val="2B6E35"/>
          </a:solidFill>
          <a:ln cap="flat" cmpd="sng" w="12700">
            <a:solidFill>
              <a:srgbClr val="2B6E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txBox="1"/>
          <p:nvPr/>
        </p:nvSpPr>
        <p:spPr>
          <a:xfrm>
            <a:off x="8166100" y="4762500"/>
            <a:ext cx="2286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300"/>
              <a:buFont typeface="Nunito Sans"/>
              <a:buNone/>
            </a:pPr>
            <a:r>
              <a:rPr b="1" i="0" lang="en-US" sz="1300" u="none" cap="none" strike="noStrike">
                <a:solidFill>
                  <a:srgbClr val="F7F5EF"/>
                </a:solidFill>
                <a:latin typeface="Nunito Sans"/>
                <a:ea typeface="Nunito Sans"/>
                <a:cs typeface="Nunito Sans"/>
                <a:sym typeface="Nunito Sans"/>
              </a:rPr>
              <a:t>De-identified totals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A2B"/>
        </a:solidFill>
      </p:bgPr>
    </p:bg>
    <p:spTree>
      <p:nvGrpSpPr>
        <p:cNvPr id="90" name="Shape 90"/>
        <p:cNvGrpSpPr/>
        <p:nvPr/>
      </p:nvGrpSpPr>
      <p:grpSpPr>
        <a:xfrm>
          <a:off x="0" y="0"/>
          <a:ext cx="0" cy="0"/>
          <a:chOff x="0" y="0"/>
          <a:chExt cx="0" cy="0"/>
        </a:xfrm>
      </p:grpSpPr>
      <p:sp>
        <p:nvSpPr>
          <p:cNvPr id="91" name="Google Shape;91;p7"/>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D88A"/>
              </a:buClr>
              <a:buSzPts val="1200"/>
              <a:buFont typeface="Nunito Sans"/>
              <a:buNone/>
            </a:pPr>
            <a:r>
              <a:rPr b="1" i="0" lang="en-US" sz="1200" u="none" cap="none" strike="noStrike">
                <a:solidFill>
                  <a:srgbClr val="7BD88A"/>
                </a:solidFill>
                <a:latin typeface="Nunito Sans"/>
                <a:ea typeface="Nunito Sans"/>
                <a:cs typeface="Nunito Sans"/>
                <a:sym typeface="Nunito Sans"/>
              </a:rPr>
              <a:t>HUMAN CAPACITY BUFFER</a:t>
            </a:r>
            <a:endParaRPr b="0" i="0" sz="1200" u="none" cap="none" strike="noStrike">
              <a:solidFill>
                <a:schemeClr val="dk1"/>
              </a:solidFill>
              <a:latin typeface="Calibri"/>
              <a:ea typeface="Calibri"/>
              <a:cs typeface="Calibri"/>
              <a:sym typeface="Calibri"/>
            </a:endParaRPr>
          </a:p>
        </p:txBody>
      </p:sp>
      <p:sp>
        <p:nvSpPr>
          <p:cNvPr id="92" name="Google Shape;92;p7"/>
          <p:cNvSpPr txBox="1"/>
          <p:nvPr/>
        </p:nvSpPr>
        <p:spPr>
          <a:xfrm>
            <a:off x="812800" y="1079500"/>
            <a:ext cx="105664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3600"/>
              <a:buFont typeface="Outfit"/>
              <a:buNone/>
            </a:pPr>
            <a:r>
              <a:rPr b="1" i="0" lang="en-US" sz="3600" u="none" cap="none" strike="noStrike">
                <a:solidFill>
                  <a:srgbClr val="F7F5EF"/>
                </a:solidFill>
                <a:latin typeface="Outfit"/>
                <a:ea typeface="Outfit"/>
                <a:cs typeface="Outfit"/>
                <a:sym typeface="Outfit"/>
              </a:rPr>
              <a:t>Covered isn't the same as sustainable</a:t>
            </a:r>
            <a:endParaRPr b="0" i="0" sz="3600" u="none" cap="none" strike="noStrike">
              <a:solidFill>
                <a:schemeClr val="dk1"/>
              </a:solidFill>
              <a:latin typeface="Calibri"/>
              <a:ea typeface="Calibri"/>
              <a:cs typeface="Calibri"/>
              <a:sym typeface="Calibri"/>
            </a:endParaRPr>
          </a:p>
        </p:txBody>
      </p:sp>
      <p:sp>
        <p:nvSpPr>
          <p:cNvPr id="93" name="Google Shape;93;p7"/>
          <p:cNvSpPr txBox="1"/>
          <p:nvPr/>
        </p:nvSpPr>
        <p:spPr>
          <a:xfrm>
            <a:off x="812800" y="2286000"/>
            <a:ext cx="25400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Available coverage</a:t>
            </a:r>
            <a:endParaRPr b="0" i="0" sz="1600" u="none" cap="none" strike="noStrike">
              <a:solidFill>
                <a:schemeClr val="dk1"/>
              </a:solidFill>
              <a:latin typeface="Calibri"/>
              <a:ea typeface="Calibri"/>
              <a:cs typeface="Calibri"/>
              <a:sym typeface="Calibri"/>
            </a:endParaRPr>
          </a:p>
        </p:txBody>
      </p:sp>
      <p:sp>
        <p:nvSpPr>
          <p:cNvPr id="94" name="Google Shape;94;p7"/>
          <p:cNvSpPr/>
          <p:nvPr/>
        </p:nvSpPr>
        <p:spPr>
          <a:xfrm>
            <a:off x="3556000" y="2286000"/>
            <a:ext cx="6350000" cy="355600"/>
          </a:xfrm>
          <a:prstGeom prst="roundRect">
            <a:avLst>
              <a:gd fmla="val 25714" name="adj"/>
            </a:avLst>
          </a:prstGeom>
          <a:solidFill>
            <a:srgbClr val="3A4461"/>
          </a:solidFill>
          <a:ln cap="flat" cmpd="sng" w="12700">
            <a:solidFill>
              <a:srgbClr val="3A44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txBox="1"/>
          <p:nvPr/>
        </p:nvSpPr>
        <p:spPr>
          <a:xfrm>
            <a:off x="10109200" y="2286000"/>
            <a:ext cx="9525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100</a:t>
            </a:r>
            <a:endParaRPr b="0" i="0" sz="2200" u="none" cap="none" strike="noStrike">
              <a:solidFill>
                <a:schemeClr val="dk1"/>
              </a:solidFill>
              <a:latin typeface="Calibri"/>
              <a:ea typeface="Calibri"/>
              <a:cs typeface="Calibri"/>
              <a:sym typeface="Calibri"/>
            </a:endParaRPr>
          </a:p>
        </p:txBody>
      </p:sp>
      <p:sp>
        <p:nvSpPr>
          <p:cNvPr id="96" name="Google Shape;96;p7"/>
          <p:cNvSpPr txBox="1"/>
          <p:nvPr/>
        </p:nvSpPr>
        <p:spPr>
          <a:xfrm>
            <a:off x="812800" y="2857500"/>
            <a:ext cx="25400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Sustainable capacity</a:t>
            </a:r>
            <a:endParaRPr b="0" i="0" sz="1600" u="none" cap="none" strike="noStrike">
              <a:solidFill>
                <a:schemeClr val="dk1"/>
              </a:solidFill>
              <a:latin typeface="Calibri"/>
              <a:ea typeface="Calibri"/>
              <a:cs typeface="Calibri"/>
              <a:sym typeface="Calibri"/>
            </a:endParaRPr>
          </a:p>
        </p:txBody>
      </p:sp>
      <p:sp>
        <p:nvSpPr>
          <p:cNvPr id="97" name="Google Shape;97;p7"/>
          <p:cNvSpPr/>
          <p:nvPr/>
        </p:nvSpPr>
        <p:spPr>
          <a:xfrm>
            <a:off x="3556000" y="2857500"/>
            <a:ext cx="5080000" cy="355600"/>
          </a:xfrm>
          <a:prstGeom prst="roundRect">
            <a:avLst>
              <a:gd fmla="val 25714" name="adj"/>
            </a:avLst>
          </a:prstGeom>
          <a:solidFill>
            <a:srgbClr val="7BD88A"/>
          </a:solidFill>
          <a:ln cap="flat" cmpd="sng" w="12700">
            <a:solidFill>
              <a:srgbClr val="7BD8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txBox="1"/>
          <p:nvPr/>
        </p:nvSpPr>
        <p:spPr>
          <a:xfrm>
            <a:off x="8839200" y="2857500"/>
            <a:ext cx="9525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D88A"/>
              </a:buClr>
              <a:buSzPts val="2200"/>
              <a:buFont typeface="Outfit"/>
              <a:buNone/>
            </a:pPr>
            <a:r>
              <a:rPr b="1" i="0" lang="en-US" sz="2200" u="none" cap="none" strike="noStrike">
                <a:solidFill>
                  <a:srgbClr val="7BD88A"/>
                </a:solidFill>
                <a:latin typeface="Outfit"/>
                <a:ea typeface="Outfit"/>
                <a:cs typeface="Outfit"/>
                <a:sym typeface="Outfit"/>
              </a:rPr>
              <a:t>80</a:t>
            </a:r>
            <a:endParaRPr b="0" i="0" sz="2200" u="none" cap="none" strike="noStrike">
              <a:solidFill>
                <a:schemeClr val="dk1"/>
              </a:solidFill>
              <a:latin typeface="Calibri"/>
              <a:ea typeface="Calibri"/>
              <a:cs typeface="Calibri"/>
              <a:sym typeface="Calibri"/>
            </a:endParaRPr>
          </a:p>
        </p:txBody>
      </p:sp>
      <p:sp>
        <p:nvSpPr>
          <p:cNvPr id="99" name="Google Shape;99;p7"/>
          <p:cNvSpPr txBox="1"/>
          <p:nvPr/>
        </p:nvSpPr>
        <p:spPr>
          <a:xfrm>
            <a:off x="812800" y="3429000"/>
            <a:ext cx="25400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Projected demand</a:t>
            </a:r>
            <a:endParaRPr b="0" i="0" sz="1600" u="none" cap="none" strike="noStrike">
              <a:solidFill>
                <a:schemeClr val="dk1"/>
              </a:solidFill>
              <a:latin typeface="Calibri"/>
              <a:ea typeface="Calibri"/>
              <a:cs typeface="Calibri"/>
              <a:sym typeface="Calibri"/>
            </a:endParaRPr>
          </a:p>
        </p:txBody>
      </p:sp>
      <p:sp>
        <p:nvSpPr>
          <p:cNvPr id="100" name="Google Shape;100;p7"/>
          <p:cNvSpPr/>
          <p:nvPr/>
        </p:nvSpPr>
        <p:spPr>
          <a:xfrm>
            <a:off x="3556000" y="3429000"/>
            <a:ext cx="4826000" cy="355600"/>
          </a:xfrm>
          <a:prstGeom prst="roundRect">
            <a:avLst>
              <a:gd fmla="val 25714" name="adj"/>
            </a:avLst>
          </a:prstGeom>
          <a:solidFill>
            <a:srgbClr val="A8E3F4"/>
          </a:solidFill>
          <a:ln cap="flat" cmpd="sng" w="12700">
            <a:solidFill>
              <a:srgbClr val="A8E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txBox="1"/>
          <p:nvPr/>
        </p:nvSpPr>
        <p:spPr>
          <a:xfrm>
            <a:off x="8585200" y="3429000"/>
            <a:ext cx="9525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E3F4"/>
              </a:buClr>
              <a:buSzPts val="2200"/>
              <a:buFont typeface="Outfit"/>
              <a:buNone/>
            </a:pPr>
            <a:r>
              <a:rPr b="1" i="0" lang="en-US" sz="2200" u="none" cap="none" strike="noStrike">
                <a:solidFill>
                  <a:srgbClr val="A8E3F4"/>
                </a:solidFill>
                <a:latin typeface="Outfit"/>
                <a:ea typeface="Outfit"/>
                <a:cs typeface="Outfit"/>
                <a:sym typeface="Outfit"/>
              </a:rPr>
              <a:t>76</a:t>
            </a:r>
            <a:endParaRPr b="0" i="0" sz="2200" u="none" cap="none" strike="noStrike">
              <a:solidFill>
                <a:schemeClr val="dk1"/>
              </a:solidFill>
              <a:latin typeface="Calibri"/>
              <a:ea typeface="Calibri"/>
              <a:cs typeface="Calibri"/>
              <a:sym typeface="Calibri"/>
            </a:endParaRPr>
          </a:p>
        </p:txBody>
      </p:sp>
      <p:sp>
        <p:nvSpPr>
          <p:cNvPr id="102" name="Google Shape;102;p7"/>
          <p:cNvSpPr/>
          <p:nvPr/>
        </p:nvSpPr>
        <p:spPr>
          <a:xfrm>
            <a:off x="812800" y="4445000"/>
            <a:ext cx="3556000" cy="406400"/>
          </a:xfrm>
          <a:prstGeom prst="roundRect">
            <a:avLst>
              <a:gd fmla="val 50000" name="adj"/>
            </a:avLst>
          </a:prstGeom>
          <a:solidFill>
            <a:srgbClr val="F2B84B"/>
          </a:solidFill>
          <a:ln cap="flat" cmpd="sng" w="12700">
            <a:solidFill>
              <a:srgbClr val="F2B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txBox="1"/>
          <p:nvPr/>
        </p:nvSpPr>
        <p:spPr>
          <a:xfrm>
            <a:off x="812800" y="4445000"/>
            <a:ext cx="35560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1D00"/>
              </a:buClr>
              <a:buSzPts val="1600"/>
              <a:buFont typeface="Nunito Sans"/>
              <a:buNone/>
            </a:pPr>
            <a:r>
              <a:rPr b="1" i="0" lang="en-US" sz="1600" u="none" cap="none" strike="noStrike">
                <a:solidFill>
                  <a:srgbClr val="2B1D00"/>
                </a:solidFill>
                <a:latin typeface="Nunito Sans"/>
                <a:ea typeface="Nunito Sans"/>
                <a:cs typeface="Nunito Sans"/>
                <a:sym typeface="Nunito Sans"/>
              </a:rPr>
              <a:t>Watch · protect peer capacity</a:t>
            </a:r>
            <a:endParaRPr b="0" i="0" sz="1600" u="none" cap="none" strike="noStrike">
              <a:solidFill>
                <a:schemeClr val="dk1"/>
              </a:solidFill>
              <a:latin typeface="Calibri"/>
              <a:ea typeface="Calibri"/>
              <a:cs typeface="Calibri"/>
              <a:sym typeface="Calibri"/>
            </a:endParaRPr>
          </a:p>
        </p:txBody>
      </p:sp>
      <p:sp>
        <p:nvSpPr>
          <p:cNvPr id="104" name="Google Shape;104;p7"/>
          <p:cNvSpPr txBox="1"/>
          <p:nvPr/>
        </p:nvSpPr>
        <p:spPr>
          <a:xfrm>
            <a:off x="4572000" y="4445000"/>
            <a:ext cx="6350000" cy="40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Only 4 conversations from the healthy boundary.</a:t>
            </a:r>
            <a:endParaRPr b="0" i="0" sz="1600" u="none" cap="none" strike="noStrike">
              <a:solidFill>
                <a:schemeClr val="dk1"/>
              </a:solidFill>
              <a:latin typeface="Calibri"/>
              <a:ea typeface="Calibri"/>
              <a:cs typeface="Calibri"/>
              <a:sym typeface="Calibri"/>
            </a:endParaRPr>
          </a:p>
        </p:txBody>
      </p:sp>
      <p:sp>
        <p:nvSpPr>
          <p:cNvPr id="105" name="Google Shape;105;p7"/>
          <p:cNvSpPr txBox="1"/>
          <p:nvPr/>
        </p:nvSpPr>
        <p:spPr>
          <a:xfrm>
            <a:off x="812800" y="6096000"/>
            <a:ext cx="1016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1B5"/>
              </a:buClr>
              <a:buSzPts val="1200"/>
              <a:buFont typeface="Nunito Sans"/>
              <a:buNone/>
            </a:pPr>
            <a:r>
              <a:rPr b="0" i="0" lang="en-US" sz="1200" u="none" cap="none" strike="noStrike">
                <a:solidFill>
                  <a:srgbClr val="9AA1B5"/>
                </a:solidFill>
                <a:latin typeface="Nunito Sans"/>
                <a:ea typeface="Nunito Sans"/>
                <a:cs typeface="Nunito Sans"/>
                <a:sym typeface="Nunito Sans"/>
              </a:rPr>
              <a:t>Demo data · conversations per day · not real Samaritans performance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10" name="Shape 110"/>
        <p:cNvGrpSpPr/>
        <p:nvPr/>
      </p:nvGrpSpPr>
      <p:grpSpPr>
        <a:xfrm>
          <a:off x="0" y="0"/>
          <a:ext cx="0" cy="0"/>
          <a:chOff x="0" y="0"/>
          <a:chExt cx="0" cy="0"/>
        </a:xfrm>
      </p:grpSpPr>
      <p:sp>
        <p:nvSpPr>
          <p:cNvPr id="111" name="Google Shape;111;p8"/>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E35"/>
              </a:buClr>
              <a:buSzPts val="1200"/>
              <a:buFont typeface="Nunito Sans"/>
              <a:buNone/>
            </a:pPr>
            <a:r>
              <a:rPr b="1" i="0" lang="en-US" sz="1200" u="none" cap="none" strike="noStrike">
                <a:solidFill>
                  <a:srgbClr val="2B6E35"/>
                </a:solidFill>
                <a:latin typeface="Nunito Sans"/>
                <a:ea typeface="Nunito Sans"/>
                <a:cs typeface="Nunito Sans"/>
                <a:sym typeface="Nunito Sans"/>
              </a:rPr>
              <a:t>PLANNING SIMULATOR</a:t>
            </a:r>
            <a:endParaRPr b="0" i="0" sz="1200" u="none" cap="none" strike="noStrike">
              <a:solidFill>
                <a:schemeClr val="dk1"/>
              </a:solidFill>
              <a:latin typeface="Calibri"/>
              <a:ea typeface="Calibri"/>
              <a:cs typeface="Calibri"/>
              <a:sym typeface="Calibri"/>
            </a:endParaRPr>
          </a:p>
        </p:txBody>
      </p:sp>
      <p:sp>
        <p:nvSpPr>
          <p:cNvPr id="112" name="Google Shape;112;p8"/>
          <p:cNvSpPr txBox="1"/>
          <p:nvPr/>
        </p:nvSpPr>
        <p:spPr>
          <a:xfrm>
            <a:off x="812800" y="1079500"/>
            <a:ext cx="105664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3600"/>
              <a:buFont typeface="Outfit"/>
              <a:buNone/>
            </a:pPr>
            <a:r>
              <a:rPr b="1" i="0" lang="en-US" sz="3600" u="none" cap="none" strike="noStrike">
                <a:solidFill>
                  <a:srgbClr val="151A2B"/>
                </a:solidFill>
                <a:latin typeface="Outfit"/>
                <a:ea typeface="Outfit"/>
                <a:cs typeface="Outfit"/>
                <a:sym typeface="Outfit"/>
              </a:rPr>
              <a:t>What would unlock the next 1,000 connections?</a:t>
            </a:r>
            <a:endParaRPr b="0" i="0" sz="3600" u="none" cap="none" strike="noStrike">
              <a:solidFill>
                <a:schemeClr val="dk1"/>
              </a:solidFill>
              <a:latin typeface="Calibri"/>
              <a:ea typeface="Calibri"/>
              <a:cs typeface="Calibri"/>
              <a:sym typeface="Calibri"/>
            </a:endParaRPr>
          </a:p>
        </p:txBody>
      </p:sp>
      <p:graphicFrame>
        <p:nvGraphicFramePr>
          <p:cNvPr id="113" name="Google Shape;113;p8"/>
          <p:cNvGraphicFramePr/>
          <p:nvPr/>
        </p:nvGraphicFramePr>
        <p:xfrm>
          <a:off x="812800" y="2476500"/>
          <a:ext cx="3000000" cy="3000000"/>
        </p:xfrm>
        <a:graphic>
          <a:graphicData uri="http://schemas.openxmlformats.org/drawingml/2006/table">
            <a:tbl>
              <a:tblPr>
                <a:noFill/>
                <a:tableStyleId>{5DF75525-73A7-4626-91C0-E8A562D871EE}</a:tableStyleId>
              </a:tblPr>
              <a:tblGrid>
                <a:gridCol w="3593600"/>
                <a:gridCol w="1581900"/>
                <a:gridCol w="1581900"/>
                <a:gridCol w="3813050"/>
              </a:tblGrid>
              <a:tr h="502925">
                <a:tc>
                  <a:txBody>
                    <a:bodyPr/>
                    <a:lstStyle/>
                    <a:p>
                      <a:pPr indent="0" lvl="0" marL="0" marR="0" rtl="0" algn="l">
                        <a:spcBef>
                          <a:spcPts val="0"/>
                        </a:spcBef>
                        <a:spcAft>
                          <a:spcPts val="0"/>
                        </a:spcAft>
                        <a:buClr>
                          <a:srgbClr val="151A2B"/>
                        </a:buClr>
                        <a:buSzPts val="1600"/>
                        <a:buFont typeface="Nunito Sans"/>
                        <a:buNone/>
                      </a:pPr>
                      <a:r>
                        <a:rPr b="1" lang="en-US" sz="1600" u="none" cap="none" strike="noStrike">
                          <a:solidFill>
                            <a:srgbClr val="151A2B"/>
                          </a:solidFill>
                          <a:latin typeface="Nunito Sans"/>
                          <a:ea typeface="Nunito Sans"/>
                          <a:cs typeface="Nunito Sans"/>
                          <a:sym typeface="Nunito Sans"/>
                        </a:rPr>
                        <a:t>Scenario</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solidFill>
                      <a:srgbClr val="E7E2D6"/>
                    </a:solidFill>
                  </a:tcPr>
                </a:tc>
                <a:tc>
                  <a:txBody>
                    <a:bodyPr/>
                    <a:lstStyle/>
                    <a:p>
                      <a:pPr indent="0" lvl="0" marL="0" marR="0" rtl="0" algn="r">
                        <a:spcBef>
                          <a:spcPts val="0"/>
                        </a:spcBef>
                        <a:spcAft>
                          <a:spcPts val="0"/>
                        </a:spcAft>
                        <a:buClr>
                          <a:srgbClr val="151A2B"/>
                        </a:buClr>
                        <a:buSzPts val="1600"/>
                        <a:buFont typeface="Nunito Sans"/>
                        <a:buNone/>
                      </a:pPr>
                      <a:r>
                        <a:rPr b="1" lang="en-US" sz="1600" u="none" cap="none" strike="noStrike">
                          <a:solidFill>
                            <a:srgbClr val="151A2B"/>
                          </a:solidFill>
                          <a:latin typeface="Nunito Sans"/>
                          <a:ea typeface="Nunito Sans"/>
                          <a:cs typeface="Nunito Sans"/>
                          <a:sym typeface="Nunito Sans"/>
                        </a:rPr>
                        <a:t>Demand</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solidFill>
                      <a:srgbClr val="E7E2D6"/>
                    </a:solidFill>
                  </a:tcPr>
                </a:tc>
                <a:tc>
                  <a:txBody>
                    <a:bodyPr/>
                    <a:lstStyle/>
                    <a:p>
                      <a:pPr indent="0" lvl="0" marL="0" marR="0" rtl="0" algn="r">
                        <a:spcBef>
                          <a:spcPts val="0"/>
                        </a:spcBef>
                        <a:spcAft>
                          <a:spcPts val="0"/>
                        </a:spcAft>
                        <a:buClr>
                          <a:srgbClr val="151A2B"/>
                        </a:buClr>
                        <a:buSzPts val="1600"/>
                        <a:buFont typeface="Nunito Sans"/>
                        <a:buNone/>
                      </a:pPr>
                      <a:r>
                        <a:rPr b="1" lang="en-US" sz="1600" u="none" cap="none" strike="noStrike">
                          <a:solidFill>
                            <a:srgbClr val="151A2B"/>
                          </a:solidFill>
                          <a:latin typeface="Nunito Sans"/>
                          <a:ea typeface="Nunito Sans"/>
                          <a:cs typeface="Nunito Sans"/>
                          <a:sym typeface="Nunito Sans"/>
                        </a:rPr>
                        <a:t>Sustainable</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solidFill>
                      <a:srgbClr val="E7E2D6"/>
                    </a:solidFill>
                  </a:tcPr>
                </a:tc>
                <a:tc>
                  <a:txBody>
                    <a:bodyPr/>
                    <a:lstStyle/>
                    <a:p>
                      <a:pPr indent="0" lvl="0" marL="0" marR="0" rtl="0" algn="l">
                        <a:spcBef>
                          <a:spcPts val="0"/>
                        </a:spcBef>
                        <a:spcAft>
                          <a:spcPts val="0"/>
                        </a:spcAft>
                        <a:buClr>
                          <a:srgbClr val="151A2B"/>
                        </a:buClr>
                        <a:buSzPts val="1600"/>
                        <a:buFont typeface="Nunito Sans"/>
                        <a:buNone/>
                      </a:pPr>
                      <a:r>
                        <a:rPr b="1" lang="en-US" sz="1600" u="none" cap="none" strike="noStrike">
                          <a:solidFill>
                            <a:srgbClr val="151A2B"/>
                          </a:solidFill>
                          <a:latin typeface="Nunito Sans"/>
                          <a:ea typeface="Nunito Sans"/>
                          <a:cs typeface="Nunito Sans"/>
                          <a:sym typeface="Nunito Sans"/>
                        </a:rPr>
                        <a:t>Status</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solidFill>
                      <a:srgbClr val="E7E2D6"/>
                    </a:solidFill>
                  </a:tcPr>
                </a:tc>
              </a:tr>
              <a:tr h="502925">
                <a:tc>
                  <a:txBody>
                    <a:bodyPr/>
                    <a:lstStyle/>
                    <a:p>
                      <a:pPr indent="0" lvl="0" marL="0" marR="0" rtl="0" algn="l">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Marketing +20%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90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80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l">
                        <a:spcBef>
                          <a:spcPts val="0"/>
                        </a:spcBef>
                        <a:spcAft>
                          <a:spcPts val="0"/>
                        </a:spcAft>
                        <a:buClr>
                          <a:srgbClr val="A3322E"/>
                        </a:buClr>
                        <a:buSzPts val="1600"/>
                        <a:buFont typeface="Nunito Sans"/>
                        <a:buNone/>
                      </a:pPr>
                      <a:r>
                        <a:rPr b="1" lang="en-US" sz="1600" u="none" cap="none" strike="noStrike">
                          <a:solidFill>
                            <a:srgbClr val="A3322E"/>
                          </a:solidFill>
                          <a:latin typeface="Nunito Sans"/>
                          <a:ea typeface="Nunito Sans"/>
                          <a:cs typeface="Nunito Sans"/>
                          <a:sym typeface="Nunito Sans"/>
                        </a:rPr>
                        <a:t>Concern · outpaces peers</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r>
              <a:tr h="502925">
                <a:tc>
                  <a:txBody>
                    <a:bodyPr/>
                    <a:lstStyle/>
                    <a:p>
                      <a:pPr indent="0" lvl="0" marL="0" marR="0" rtl="0" algn="l">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 Peer capacity +10%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90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88</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l">
                        <a:spcBef>
                          <a:spcPts val="0"/>
                        </a:spcBef>
                        <a:spcAft>
                          <a:spcPts val="0"/>
                        </a:spcAft>
                        <a:buClr>
                          <a:srgbClr val="7A5100"/>
                        </a:buClr>
                        <a:buSzPts val="1600"/>
                        <a:buFont typeface="Nunito Sans"/>
                        <a:buNone/>
                      </a:pPr>
                      <a:r>
                        <a:rPr b="1" lang="en-US" sz="1600" u="none" cap="none" strike="noStrike">
                          <a:solidFill>
                            <a:srgbClr val="7A5100"/>
                          </a:solidFill>
                          <a:latin typeface="Nunito Sans"/>
                          <a:ea typeface="Nunito Sans"/>
                          <a:cs typeface="Nunito Sans"/>
                          <a:sym typeface="Nunito Sans"/>
                        </a:rPr>
                        <a:t>Watch · 2 short</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r>
              <a:tr h="502925">
                <a:tc>
                  <a:txBody>
                    <a:bodyPr/>
                    <a:lstStyle/>
                    <a:p>
                      <a:pPr indent="0" lvl="0" marL="0" marR="0" rtl="0" algn="l">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+ 8 peer shifts at peak</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90</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r">
                        <a:spcBef>
                          <a:spcPts val="0"/>
                        </a:spcBef>
                        <a:spcAft>
                          <a:spcPts val="0"/>
                        </a:spcAft>
                        <a:buClr>
                          <a:srgbClr val="151A2B"/>
                        </a:buClr>
                        <a:buSzPts val="1600"/>
                        <a:buFont typeface="Nunito Sans"/>
                        <a:buNone/>
                      </a:pPr>
                      <a:r>
                        <a:rPr lang="en-US" sz="1600" u="none" cap="none" strike="noStrike">
                          <a:solidFill>
                            <a:srgbClr val="151A2B"/>
                          </a:solidFill>
                          <a:latin typeface="Nunito Sans"/>
                          <a:ea typeface="Nunito Sans"/>
                          <a:cs typeface="Nunito Sans"/>
                          <a:sym typeface="Nunito Sans"/>
                        </a:rPr>
                        <a:t>98</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c>
                  <a:txBody>
                    <a:bodyPr/>
                    <a:lstStyle/>
                    <a:p>
                      <a:pPr indent="0" lvl="0" marL="0" marR="0" rtl="0" algn="l">
                        <a:spcBef>
                          <a:spcPts val="0"/>
                        </a:spcBef>
                        <a:spcAft>
                          <a:spcPts val="0"/>
                        </a:spcAft>
                        <a:buClr>
                          <a:srgbClr val="2B6E35"/>
                        </a:buClr>
                        <a:buSzPts val="1600"/>
                        <a:buFont typeface="Nunito Sans"/>
                        <a:buNone/>
                      </a:pPr>
                      <a:r>
                        <a:rPr b="1" lang="en-US" sz="1600" u="none" cap="none" strike="noStrike">
                          <a:solidFill>
                            <a:srgbClr val="2B6E35"/>
                          </a:solidFill>
                          <a:latin typeface="Nunito Sans"/>
                          <a:ea typeface="Nunito Sans"/>
                          <a:cs typeface="Nunito Sans"/>
                          <a:sym typeface="Nunito Sans"/>
                        </a:rPr>
                        <a:t>Ready to connect</a:t>
                      </a:r>
                      <a:endParaRPr sz="1600" u="none" cap="none" strike="noStrike">
                        <a:latin typeface="Nunito Sans"/>
                        <a:ea typeface="Nunito Sans"/>
                        <a:cs typeface="Nunito Sans"/>
                        <a:sym typeface="Nunito Sans"/>
                      </a:endParaRPr>
                    </a:p>
                  </a:txBody>
                  <a:tcPr marT="91450" marB="91450" marR="91450" marL="91450" anchor="ctr">
                    <a:lnL cap="flat" cmpd="sng" w="12700">
                      <a:solidFill>
                        <a:srgbClr val="D9D3C6"/>
                      </a:solidFill>
                      <a:prstDash val="solid"/>
                      <a:round/>
                      <a:headEnd len="sm" w="sm" type="none"/>
                      <a:tailEnd len="sm" w="sm" type="none"/>
                    </a:lnL>
                    <a:lnR cap="flat" cmpd="sng" w="12700">
                      <a:solidFill>
                        <a:srgbClr val="D9D3C6"/>
                      </a:solidFill>
                      <a:prstDash val="solid"/>
                      <a:round/>
                      <a:headEnd len="sm" w="sm" type="none"/>
                      <a:tailEnd len="sm" w="sm" type="none"/>
                    </a:lnR>
                    <a:lnT cap="flat" cmpd="sng" w="12700">
                      <a:solidFill>
                        <a:srgbClr val="D9D3C6"/>
                      </a:solidFill>
                      <a:prstDash val="solid"/>
                      <a:round/>
                      <a:headEnd len="sm" w="sm" type="none"/>
                      <a:tailEnd len="sm" w="sm" type="none"/>
                    </a:lnT>
                    <a:lnB cap="flat" cmpd="sng" w="12700">
                      <a:solidFill>
                        <a:srgbClr val="D9D3C6"/>
                      </a:solidFill>
                      <a:prstDash val="solid"/>
                      <a:round/>
                      <a:headEnd len="sm" w="sm" type="none"/>
                      <a:tailEnd len="sm" w="sm" type="none"/>
                    </a:lnB>
                  </a:tcPr>
                </a:tc>
              </a:tr>
            </a:tbl>
          </a:graphicData>
        </a:graphic>
      </p:graphicFrame>
      <p:sp>
        <p:nvSpPr>
          <p:cNvPr id="114" name="Google Shape;114;p8"/>
          <p:cNvSpPr txBox="1"/>
          <p:nvPr/>
        </p:nvSpPr>
        <p:spPr>
          <a:xfrm>
            <a:off x="812800" y="5016500"/>
            <a:ext cx="10566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E35"/>
              </a:buClr>
              <a:buSzPts val="2200"/>
              <a:buFont typeface="Outfit"/>
              <a:buNone/>
            </a:pPr>
            <a:r>
              <a:rPr b="1" i="0" lang="en-US" sz="2200" u="none" cap="none" strike="noStrike">
                <a:solidFill>
                  <a:srgbClr val="2B6E35"/>
                </a:solidFill>
                <a:latin typeface="Outfit"/>
                <a:ea typeface="Outfit"/>
                <a:cs typeface="Outfit"/>
                <a:sym typeface="Outfit"/>
              </a:rPr>
              <a:t>Grow the peer network first. Then turn up the volume.</a:t>
            </a:r>
            <a:endParaRPr b="0" i="0" sz="2200" u="none" cap="none" strike="noStrike">
              <a:solidFill>
                <a:schemeClr val="dk1"/>
              </a:solidFill>
              <a:latin typeface="Calibri"/>
              <a:ea typeface="Calibri"/>
              <a:cs typeface="Calibri"/>
              <a:sym typeface="Calibri"/>
            </a:endParaRPr>
          </a:p>
        </p:txBody>
      </p:sp>
      <p:sp>
        <p:nvSpPr>
          <p:cNvPr id="115" name="Google Shape;115;p8"/>
          <p:cNvSpPr txBox="1"/>
          <p:nvPr/>
        </p:nvSpPr>
        <p:spPr>
          <a:xfrm>
            <a:off x="812800" y="6096000"/>
            <a:ext cx="1016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Demo data · levers: marketing, peer capacity, operating hours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A2B"/>
        </a:solidFill>
      </p:bgPr>
    </p:bg>
    <p:spTree>
      <p:nvGrpSpPr>
        <p:cNvPr id="120" name="Shape 120"/>
        <p:cNvGrpSpPr/>
        <p:nvPr/>
      </p:nvGrpSpPr>
      <p:grpSpPr>
        <a:xfrm>
          <a:off x="0" y="0"/>
          <a:ext cx="0" cy="0"/>
          <a:chOff x="0" y="0"/>
          <a:chExt cx="0" cy="0"/>
        </a:xfrm>
      </p:grpSpPr>
      <p:sp>
        <p:nvSpPr>
          <p:cNvPr id="121" name="Google Shape;121;p9"/>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D88A"/>
              </a:buClr>
              <a:buSzPts val="1200"/>
              <a:buFont typeface="Nunito Sans"/>
              <a:buNone/>
            </a:pPr>
            <a:r>
              <a:rPr b="1" i="0" lang="en-US" sz="1200" u="none" cap="none" strike="noStrike">
                <a:solidFill>
                  <a:srgbClr val="7BD88A"/>
                </a:solidFill>
                <a:latin typeface="Nunito Sans"/>
                <a:ea typeface="Nunito Sans"/>
                <a:cs typeface="Nunito Sans"/>
                <a:sym typeface="Nunito Sans"/>
              </a:rPr>
              <a:t>EARLY WARNINGS</a:t>
            </a:r>
            <a:endParaRPr b="0" i="0" sz="1200" u="none" cap="none" strike="noStrike">
              <a:solidFill>
                <a:schemeClr val="dk1"/>
              </a:solidFill>
              <a:latin typeface="Calibri"/>
              <a:ea typeface="Calibri"/>
              <a:cs typeface="Calibri"/>
              <a:sym typeface="Calibri"/>
            </a:endParaRPr>
          </a:p>
        </p:txBody>
      </p:sp>
      <p:sp>
        <p:nvSpPr>
          <p:cNvPr id="122" name="Google Shape;122;p9"/>
          <p:cNvSpPr txBox="1"/>
          <p:nvPr/>
        </p:nvSpPr>
        <p:spPr>
          <a:xfrm>
            <a:off x="812800" y="1079500"/>
            <a:ext cx="105664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3600"/>
              <a:buFont typeface="Outfit"/>
              <a:buNone/>
            </a:pPr>
            <a:r>
              <a:rPr b="1" i="0" lang="en-US" sz="3600" u="none" cap="none" strike="noStrike">
                <a:solidFill>
                  <a:srgbClr val="F7F5EF"/>
                </a:solidFill>
                <a:latin typeface="Outfit"/>
                <a:ea typeface="Outfit"/>
                <a:cs typeface="Outfit"/>
                <a:sym typeface="Outfit"/>
              </a:rPr>
              <a:t>Three signals most dashboards miss</a:t>
            </a:r>
            <a:endParaRPr b="0" i="0" sz="3600" u="none" cap="none" strike="noStrike">
              <a:solidFill>
                <a:schemeClr val="dk1"/>
              </a:solidFill>
              <a:latin typeface="Calibri"/>
              <a:ea typeface="Calibri"/>
              <a:cs typeface="Calibri"/>
              <a:sym typeface="Calibri"/>
            </a:endParaRPr>
          </a:p>
        </p:txBody>
      </p:sp>
      <p:sp>
        <p:nvSpPr>
          <p:cNvPr id="123" name="Google Shape;123;p9"/>
          <p:cNvSpPr/>
          <p:nvPr/>
        </p:nvSpPr>
        <p:spPr>
          <a:xfrm>
            <a:off x="812800" y="2286000"/>
            <a:ext cx="3384550" cy="3048000"/>
          </a:xfrm>
          <a:prstGeom prst="roundRect">
            <a:avLst>
              <a:gd fmla="val 8400" name="adj"/>
            </a:avLst>
          </a:prstGeom>
          <a:solidFill>
            <a:srgbClr val="1F2640"/>
          </a:solidFill>
          <a:ln cap="flat" cmpd="sng" w="12700">
            <a:solidFill>
              <a:srgbClr val="1F26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9"/>
          <p:cNvPicPr preferRelativeResize="0"/>
          <p:nvPr/>
        </p:nvPicPr>
        <p:blipFill rotWithShape="1">
          <a:blip r:embed="rId3">
            <a:alphaModFix/>
          </a:blip>
          <a:srcRect b="0" l="0" r="0" t="0"/>
          <a:stretch/>
        </p:blipFill>
        <p:spPr>
          <a:xfrm>
            <a:off x="1117600" y="2590800"/>
            <a:ext cx="355600" cy="355600"/>
          </a:xfrm>
          <a:prstGeom prst="rect">
            <a:avLst/>
          </a:prstGeom>
          <a:noFill/>
          <a:ln>
            <a:noFill/>
          </a:ln>
        </p:spPr>
      </p:pic>
      <p:sp>
        <p:nvSpPr>
          <p:cNvPr id="125" name="Google Shape;125;p9"/>
          <p:cNvSpPr txBox="1"/>
          <p:nvPr/>
        </p:nvSpPr>
        <p:spPr>
          <a:xfrm>
            <a:off x="1117600" y="3111500"/>
            <a:ext cx="27749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News surges</a:t>
            </a:r>
            <a:endParaRPr b="0" i="0" sz="2200" u="none" cap="none" strike="noStrike">
              <a:solidFill>
                <a:schemeClr val="dk1"/>
              </a:solidFill>
              <a:latin typeface="Calibri"/>
              <a:ea typeface="Calibri"/>
              <a:cs typeface="Calibri"/>
              <a:sym typeface="Calibri"/>
            </a:endParaRPr>
          </a:p>
        </p:txBody>
      </p:sp>
      <p:sp>
        <p:nvSpPr>
          <p:cNvPr id="126" name="Google Shape;126;p9"/>
          <p:cNvSpPr txBox="1"/>
          <p:nvPr/>
        </p:nvSpPr>
        <p:spPr>
          <a:xfrm>
            <a:off x="1117600" y="3937000"/>
            <a:ext cx="277495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Separates news-driven demand from campaign lift. Responds with staff, never ads.</a:t>
            </a:r>
            <a:endParaRPr b="0" i="0" sz="1600" u="none" cap="none" strike="noStrike">
              <a:solidFill>
                <a:schemeClr val="dk1"/>
              </a:solidFill>
              <a:latin typeface="Calibri"/>
              <a:ea typeface="Calibri"/>
              <a:cs typeface="Calibri"/>
              <a:sym typeface="Calibri"/>
            </a:endParaRPr>
          </a:p>
        </p:txBody>
      </p:sp>
      <p:sp>
        <p:nvSpPr>
          <p:cNvPr id="127" name="Google Shape;127;p9"/>
          <p:cNvSpPr/>
          <p:nvPr/>
        </p:nvSpPr>
        <p:spPr>
          <a:xfrm>
            <a:off x="4400550" y="2286000"/>
            <a:ext cx="3384550" cy="3048000"/>
          </a:xfrm>
          <a:prstGeom prst="roundRect">
            <a:avLst>
              <a:gd fmla="val 8400" name="adj"/>
            </a:avLst>
          </a:prstGeom>
          <a:solidFill>
            <a:srgbClr val="1F2640"/>
          </a:solidFill>
          <a:ln cap="flat" cmpd="sng" w="12700">
            <a:solidFill>
              <a:srgbClr val="1F26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9"/>
          <p:cNvPicPr preferRelativeResize="0"/>
          <p:nvPr/>
        </p:nvPicPr>
        <p:blipFill rotWithShape="1">
          <a:blip r:embed="rId4">
            <a:alphaModFix/>
          </a:blip>
          <a:srcRect b="0" l="0" r="0" t="0"/>
          <a:stretch/>
        </p:blipFill>
        <p:spPr>
          <a:xfrm>
            <a:off x="4705350" y="2590800"/>
            <a:ext cx="355600" cy="355600"/>
          </a:xfrm>
          <a:prstGeom prst="rect">
            <a:avLst/>
          </a:prstGeom>
          <a:noFill/>
          <a:ln>
            <a:noFill/>
          </a:ln>
        </p:spPr>
      </p:pic>
      <p:sp>
        <p:nvSpPr>
          <p:cNvPr id="129" name="Google Shape;129;p9"/>
          <p:cNvSpPr txBox="1"/>
          <p:nvPr/>
        </p:nvSpPr>
        <p:spPr>
          <a:xfrm>
            <a:off x="4705350" y="3111500"/>
            <a:ext cx="27749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Awareness-to-connection lag</a:t>
            </a:r>
            <a:endParaRPr b="0" i="0" sz="2200" u="none" cap="none" strike="noStrike">
              <a:solidFill>
                <a:schemeClr val="dk1"/>
              </a:solidFill>
              <a:latin typeface="Calibri"/>
              <a:ea typeface="Calibri"/>
              <a:cs typeface="Calibri"/>
              <a:sym typeface="Calibri"/>
            </a:endParaRPr>
          </a:p>
        </p:txBody>
      </p:sp>
      <p:sp>
        <p:nvSpPr>
          <p:cNvPr id="130" name="Google Shape;130;p9"/>
          <p:cNvSpPr txBox="1"/>
          <p:nvPr/>
        </p:nvSpPr>
        <p:spPr>
          <a:xfrm>
            <a:off x="4705350" y="3937000"/>
            <a:ext cx="277495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Shows when a campaign's demand will arrive, so shifts are ready first.</a:t>
            </a:r>
            <a:endParaRPr b="0" i="0" sz="1600" u="none" cap="none" strike="noStrike">
              <a:solidFill>
                <a:schemeClr val="dk1"/>
              </a:solidFill>
              <a:latin typeface="Calibri"/>
              <a:ea typeface="Calibri"/>
              <a:cs typeface="Calibri"/>
              <a:sym typeface="Calibri"/>
            </a:endParaRPr>
          </a:p>
        </p:txBody>
      </p:sp>
      <p:sp>
        <p:nvSpPr>
          <p:cNvPr id="131" name="Google Shape;131;p9"/>
          <p:cNvSpPr/>
          <p:nvPr/>
        </p:nvSpPr>
        <p:spPr>
          <a:xfrm>
            <a:off x="7988300" y="2286000"/>
            <a:ext cx="3384550" cy="3048000"/>
          </a:xfrm>
          <a:prstGeom prst="roundRect">
            <a:avLst>
              <a:gd fmla="val 8400" name="adj"/>
            </a:avLst>
          </a:prstGeom>
          <a:solidFill>
            <a:srgbClr val="1F2640"/>
          </a:solidFill>
          <a:ln cap="flat" cmpd="sng" w="12700">
            <a:solidFill>
              <a:srgbClr val="1F26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9"/>
          <p:cNvPicPr preferRelativeResize="0"/>
          <p:nvPr/>
        </p:nvPicPr>
        <p:blipFill rotWithShape="1">
          <a:blip r:embed="rId5">
            <a:alphaModFix/>
          </a:blip>
          <a:srcRect b="0" l="0" r="0" t="0"/>
          <a:stretch/>
        </p:blipFill>
        <p:spPr>
          <a:xfrm>
            <a:off x="8293100" y="2590800"/>
            <a:ext cx="355600" cy="355600"/>
          </a:xfrm>
          <a:prstGeom prst="rect">
            <a:avLst/>
          </a:prstGeom>
          <a:noFill/>
          <a:ln>
            <a:noFill/>
          </a:ln>
        </p:spPr>
      </p:pic>
      <p:sp>
        <p:nvSpPr>
          <p:cNvPr id="133" name="Google Shape;133;p9"/>
          <p:cNvSpPr txBox="1"/>
          <p:nvPr/>
        </p:nvSpPr>
        <p:spPr>
          <a:xfrm>
            <a:off x="8293100" y="3111500"/>
            <a:ext cx="27749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2200"/>
              <a:buFont typeface="Outfit"/>
              <a:buNone/>
            </a:pPr>
            <a:r>
              <a:rPr b="1" i="0" lang="en-US" sz="2200" u="none" cap="none" strike="noStrike">
                <a:solidFill>
                  <a:srgbClr val="F7F5EF"/>
                </a:solidFill>
                <a:latin typeface="Outfit"/>
                <a:ea typeface="Outfit"/>
                <a:cs typeface="Outfit"/>
                <a:sym typeface="Outfit"/>
              </a:rPr>
              <a:t>The peer flywheel</a:t>
            </a:r>
            <a:endParaRPr b="0" i="0" sz="2200" u="none" cap="none" strike="noStrike">
              <a:solidFill>
                <a:schemeClr val="dk1"/>
              </a:solidFill>
              <a:latin typeface="Calibri"/>
              <a:ea typeface="Calibri"/>
              <a:cs typeface="Calibri"/>
              <a:sym typeface="Calibri"/>
            </a:endParaRPr>
          </a:p>
        </p:txBody>
      </p:sp>
      <p:sp>
        <p:nvSpPr>
          <p:cNvPr id="134" name="Google Shape;134;p9"/>
          <p:cNvSpPr txBox="1"/>
          <p:nvPr/>
        </p:nvSpPr>
        <p:spPr>
          <a:xfrm>
            <a:off x="8293100" y="3937000"/>
            <a:ext cx="2774950" cy="12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1600"/>
              <a:buFont typeface="Nunito Sans"/>
              <a:buNone/>
            </a:pPr>
            <a:r>
              <a:rPr b="0" i="0" lang="en-US" sz="1600" u="none" cap="none" strike="noStrike">
                <a:solidFill>
                  <a:srgbClr val="C4C9D8"/>
                </a:solidFill>
                <a:latin typeface="Nunito Sans"/>
                <a:ea typeface="Nunito Sans"/>
                <a:cs typeface="Nunito Sans"/>
                <a:sym typeface="Nunito Sans"/>
              </a:rPr>
              <a:t>Tracks volunteer recruitment beside demand, so capacity grows with reach.</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6E35"/>
        </a:solidFill>
      </p:bgPr>
    </p:bg>
    <p:spTree>
      <p:nvGrpSpPr>
        <p:cNvPr id="139" name="Shape 139"/>
        <p:cNvGrpSpPr/>
        <p:nvPr/>
      </p:nvGrpSpPr>
      <p:grpSpPr>
        <a:xfrm>
          <a:off x="0" y="0"/>
          <a:ext cx="0" cy="0"/>
          <a:chOff x="0" y="0"/>
          <a:chExt cx="0" cy="0"/>
        </a:xfrm>
      </p:grpSpPr>
      <p:sp>
        <p:nvSpPr>
          <p:cNvPr id="140" name="Google Shape;140;p10"/>
          <p:cNvSpPr/>
          <p:nvPr/>
        </p:nvSpPr>
        <p:spPr>
          <a:xfrm>
            <a:off x="10033000" y="609600"/>
            <a:ext cx="1270000" cy="1270000"/>
          </a:xfrm>
          <a:prstGeom prst="ellipse">
            <a:avLst/>
          </a:prstGeom>
          <a:solidFill>
            <a:srgbClr val="7BD88A"/>
          </a:solidFill>
          <a:ln cap="flat" cmpd="sng" w="12700">
            <a:solidFill>
              <a:srgbClr val="7BD8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
          <p:cNvSpPr/>
          <p:nvPr/>
        </p:nvSpPr>
        <p:spPr>
          <a:xfrm>
            <a:off x="9398000" y="1397000"/>
            <a:ext cx="698500" cy="698500"/>
          </a:xfrm>
          <a:prstGeom prst="ellipse">
            <a:avLst/>
          </a:prstGeom>
          <a:solidFill>
            <a:srgbClr val="F7F5EF"/>
          </a:solidFill>
          <a:ln cap="flat" cmpd="sng" w="12700">
            <a:solidFill>
              <a:srgbClr val="F7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
          <p:cNvSpPr txBox="1"/>
          <p:nvPr/>
        </p:nvSpPr>
        <p:spPr>
          <a:xfrm>
            <a:off x="812800" y="22860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F0D2"/>
              </a:buClr>
              <a:buSzPts val="1200"/>
              <a:buFont typeface="Nunito Sans"/>
              <a:buNone/>
            </a:pPr>
            <a:r>
              <a:rPr b="1" i="0" lang="en-US" sz="1200" u="none" cap="none" strike="noStrike">
                <a:solidFill>
                  <a:srgbClr val="D6F0D2"/>
                </a:solidFill>
                <a:latin typeface="Nunito Sans"/>
                <a:ea typeface="Nunito Sans"/>
                <a:cs typeface="Nunito Sans"/>
                <a:sym typeface="Nunito Sans"/>
              </a:rPr>
              <a:t>PRIVACY BY DESIGN</a:t>
            </a:r>
            <a:endParaRPr b="0" i="0" sz="1200" u="none" cap="none" strike="noStrike">
              <a:solidFill>
                <a:schemeClr val="dk1"/>
              </a:solidFill>
              <a:latin typeface="Calibri"/>
              <a:ea typeface="Calibri"/>
              <a:cs typeface="Calibri"/>
              <a:sym typeface="Calibri"/>
            </a:endParaRPr>
          </a:p>
        </p:txBody>
      </p:sp>
      <p:sp>
        <p:nvSpPr>
          <p:cNvPr id="143" name="Google Shape;143;p10"/>
          <p:cNvSpPr txBox="1"/>
          <p:nvPr/>
        </p:nvSpPr>
        <p:spPr>
          <a:xfrm>
            <a:off x="812800" y="2603500"/>
            <a:ext cx="9525000" cy="21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4400"/>
              <a:buFont typeface="Outfit"/>
              <a:buNone/>
            </a:pPr>
            <a:r>
              <a:rPr b="1" i="0" lang="en-US" sz="4400" u="none" cap="none" strike="noStrike">
                <a:solidFill>
                  <a:srgbClr val="F7F5EF"/>
                </a:solidFill>
                <a:latin typeface="Outfit"/>
                <a:ea typeface="Outfit"/>
                <a:cs typeface="Outfit"/>
                <a:sym typeface="Outfit"/>
              </a:rPr>
              <a:t>Totals only.</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5EF"/>
              </a:buClr>
              <a:buSzPts val="4400"/>
              <a:buFont typeface="Outfit"/>
              <a:buNone/>
            </a:pPr>
            <a:r>
              <a:rPr b="1" i="0" lang="en-US" sz="4400" u="none" cap="none" strike="noStrike">
                <a:solidFill>
                  <a:srgbClr val="F7F5EF"/>
                </a:solidFill>
                <a:latin typeface="Outfit"/>
                <a:ea typeface="Outfit"/>
                <a:cs typeface="Outfit"/>
                <a:sym typeface="Outfit"/>
              </a:rPr>
              <a:t>Groups under 10 hidden.</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5EF"/>
              </a:buClr>
              <a:buSzPts val="4400"/>
              <a:buFont typeface="Outfit"/>
              <a:buNone/>
            </a:pPr>
            <a:r>
              <a:rPr b="1" i="0" lang="en-US" sz="4400" u="none" cap="none" strike="noStrike">
                <a:solidFill>
                  <a:srgbClr val="F7F5EF"/>
                </a:solidFill>
                <a:latin typeface="Outfit"/>
                <a:ea typeface="Outfit"/>
                <a:cs typeface="Outfit"/>
                <a:sym typeface="Outfit"/>
              </a:rPr>
              <a:t>No message content. Ever.</a:t>
            </a:r>
            <a:endParaRPr b="0" i="0" sz="4400" u="none" cap="none" strike="noStrike">
              <a:solidFill>
                <a:schemeClr val="dk1"/>
              </a:solidFill>
              <a:latin typeface="Calibri"/>
              <a:ea typeface="Calibri"/>
              <a:cs typeface="Calibri"/>
              <a:sym typeface="Calibri"/>
            </a:endParaRPr>
          </a:p>
        </p:txBody>
      </p:sp>
      <p:sp>
        <p:nvSpPr>
          <p:cNvPr id="144" name="Google Shape;144;p10"/>
          <p:cNvSpPr txBox="1"/>
          <p:nvPr/>
        </p:nvSpPr>
        <p:spPr>
          <a:xfrm>
            <a:off x="812800" y="5016500"/>
            <a:ext cx="9525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4F3E1"/>
              </a:buClr>
              <a:buSzPts val="1600"/>
              <a:buFont typeface="Nunito Sans"/>
              <a:buNone/>
            </a:pPr>
            <a:r>
              <a:rPr b="0" i="0" lang="en-US" sz="1600" u="none" cap="none" strike="noStrike">
                <a:solidFill>
                  <a:srgbClr val="E4F3E1"/>
                </a:solidFill>
                <a:latin typeface="Nunito Sans"/>
                <a:ea typeface="Nunito Sans"/>
                <a:cs typeface="Nunito Sans"/>
                <a:sym typeface="Nunito Sans"/>
              </a:rPr>
              <a:t>De-identification happens in the pipeline, before anyone sees a chart.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49" name="Shape 149"/>
        <p:cNvGrpSpPr/>
        <p:nvPr/>
      </p:nvGrpSpPr>
      <p:grpSpPr>
        <a:xfrm>
          <a:off x="0" y="0"/>
          <a:ext cx="0" cy="0"/>
          <a:chOff x="0" y="0"/>
          <a:chExt cx="0" cy="0"/>
        </a:xfrm>
      </p:grpSpPr>
      <p:sp>
        <p:nvSpPr>
          <p:cNvPr id="150" name="Google Shape;150;p11"/>
          <p:cNvSpPr txBox="1"/>
          <p:nvPr/>
        </p:nvSpPr>
        <p:spPr>
          <a:xfrm>
            <a:off x="812800" y="812800"/>
            <a:ext cx="825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E35"/>
              </a:buClr>
              <a:buSzPts val="1200"/>
              <a:buFont typeface="Nunito Sans"/>
              <a:buNone/>
            </a:pPr>
            <a:r>
              <a:rPr b="1" i="0" lang="en-US" sz="1200" u="none" cap="none" strike="noStrike">
                <a:solidFill>
                  <a:srgbClr val="2B6E35"/>
                </a:solidFill>
                <a:latin typeface="Nunito Sans"/>
                <a:ea typeface="Nunito Sans"/>
                <a:cs typeface="Nunito Sans"/>
                <a:sym typeface="Nunito Sans"/>
              </a:rPr>
              <a:t>FEASIBILITY</a:t>
            </a:r>
            <a:endParaRPr b="0" i="0" sz="1200" u="none" cap="none" strike="noStrike">
              <a:solidFill>
                <a:schemeClr val="dk1"/>
              </a:solidFill>
              <a:latin typeface="Calibri"/>
              <a:ea typeface="Calibri"/>
              <a:cs typeface="Calibri"/>
              <a:sym typeface="Calibri"/>
            </a:endParaRPr>
          </a:p>
        </p:txBody>
      </p:sp>
      <p:sp>
        <p:nvSpPr>
          <p:cNvPr id="151" name="Google Shape;151;p11"/>
          <p:cNvSpPr txBox="1"/>
          <p:nvPr/>
        </p:nvSpPr>
        <p:spPr>
          <a:xfrm>
            <a:off x="812800" y="1079500"/>
            <a:ext cx="105664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3600"/>
              <a:buFont typeface="Outfit"/>
              <a:buNone/>
            </a:pPr>
            <a:r>
              <a:rPr b="1" i="0" lang="en-US" sz="3600" u="none" cap="none" strike="noStrike">
                <a:solidFill>
                  <a:srgbClr val="151A2B"/>
                </a:solidFill>
                <a:latin typeface="Outfit"/>
                <a:ea typeface="Outfit"/>
                <a:cs typeface="Outfit"/>
                <a:sym typeface="Outfit"/>
              </a:rPr>
              <a:t>Start Monday, with tools you already have</a:t>
            </a:r>
            <a:endParaRPr b="0" i="0" sz="3600" u="none" cap="none" strike="noStrike">
              <a:solidFill>
                <a:schemeClr val="dk1"/>
              </a:solidFill>
              <a:latin typeface="Calibri"/>
              <a:ea typeface="Calibri"/>
              <a:cs typeface="Calibri"/>
              <a:sym typeface="Calibri"/>
            </a:endParaRPr>
          </a:p>
        </p:txBody>
      </p:sp>
      <p:sp>
        <p:nvSpPr>
          <p:cNvPr id="152" name="Google Shape;152;p11"/>
          <p:cNvSpPr/>
          <p:nvPr/>
        </p:nvSpPr>
        <p:spPr>
          <a:xfrm>
            <a:off x="812800" y="2476500"/>
            <a:ext cx="3384550" cy="3048000"/>
          </a:xfrm>
          <a:prstGeom prst="roundRect">
            <a:avLst>
              <a:gd fmla="val 8400" name="adj"/>
            </a:avLst>
          </a:prstGeom>
          <a:solidFill>
            <a:srgbClr val="FDFCF8"/>
          </a:solidFill>
          <a:ln cap="flat" cmpd="sng" w="19050">
            <a:solidFill>
              <a:srgbClr val="E3DE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a:off x="1117600" y="2730500"/>
            <a:ext cx="1905000" cy="304800"/>
          </a:xfrm>
          <a:prstGeom prst="roundRect">
            <a:avLst>
              <a:gd fmla="val 50000" name="adj"/>
            </a:avLst>
          </a:prstGeom>
          <a:solidFill>
            <a:srgbClr val="2B6E35"/>
          </a:solidFill>
          <a:ln cap="flat" cmpd="sng" w="12700">
            <a:solidFill>
              <a:srgbClr val="2B6E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txBox="1"/>
          <p:nvPr/>
        </p:nvSpPr>
        <p:spPr>
          <a:xfrm>
            <a:off x="1117600" y="2730500"/>
            <a:ext cx="19050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200"/>
              <a:buFont typeface="Nunito Sans"/>
              <a:buNone/>
            </a:pPr>
            <a:r>
              <a:rPr b="1" i="0" lang="en-US" sz="1200" u="none" cap="none" strike="noStrike">
                <a:solidFill>
                  <a:srgbClr val="F7F5EF"/>
                </a:solidFill>
                <a:latin typeface="Nunito Sans"/>
                <a:ea typeface="Nunito Sans"/>
                <a:cs typeface="Nunito Sans"/>
                <a:sym typeface="Nunito Sans"/>
              </a:rPr>
              <a:t>First 30 days · $0</a:t>
            </a:r>
            <a:endParaRPr b="0" i="0" sz="1200" u="none" cap="none" strike="noStrike">
              <a:solidFill>
                <a:schemeClr val="dk1"/>
              </a:solidFill>
              <a:latin typeface="Calibri"/>
              <a:ea typeface="Calibri"/>
              <a:cs typeface="Calibri"/>
              <a:sym typeface="Calibri"/>
            </a:endParaRPr>
          </a:p>
        </p:txBody>
      </p:sp>
      <p:sp>
        <p:nvSpPr>
          <p:cNvPr id="155" name="Google Shape;155;p11"/>
          <p:cNvSpPr txBox="1"/>
          <p:nvPr/>
        </p:nvSpPr>
        <p:spPr>
          <a:xfrm>
            <a:off x="1117600" y="3238500"/>
            <a:ext cx="2774950" cy="69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2200"/>
              <a:buFont typeface="Outfit"/>
              <a:buNone/>
            </a:pPr>
            <a:r>
              <a:rPr b="1" i="0" lang="en-US" sz="2200" u="none" cap="none" strike="noStrike">
                <a:solidFill>
                  <a:srgbClr val="151A2B"/>
                </a:solidFill>
                <a:latin typeface="Outfit"/>
                <a:ea typeface="Outfit"/>
                <a:cs typeface="Outfit"/>
                <a:sym typeface="Outfit"/>
              </a:rPr>
              <a:t>One number, weekly</a:t>
            </a:r>
            <a:endParaRPr b="0" i="0" sz="2200" u="none" cap="none" strike="noStrike">
              <a:solidFill>
                <a:schemeClr val="dk1"/>
              </a:solidFill>
              <a:latin typeface="Calibri"/>
              <a:ea typeface="Calibri"/>
              <a:cs typeface="Calibri"/>
              <a:sym typeface="Calibri"/>
            </a:endParaRPr>
          </a:p>
        </p:txBody>
      </p:sp>
      <p:sp>
        <p:nvSpPr>
          <p:cNvPr id="156" name="Google Shape;156;p11"/>
          <p:cNvSpPr txBox="1"/>
          <p:nvPr/>
        </p:nvSpPr>
        <p:spPr>
          <a:xfrm>
            <a:off x="1117600" y="4000500"/>
            <a:ext cx="2774950" cy="127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600"/>
              <a:buFont typeface="Nunito Sans"/>
              <a:buNone/>
            </a:pPr>
            <a:r>
              <a:rPr b="0" i="0" lang="en-US" sz="1600" u="none" cap="none" strike="noStrike">
                <a:solidFill>
                  <a:srgbClr val="4A5163"/>
                </a:solidFill>
                <a:latin typeface="Nunito Sans"/>
                <a:ea typeface="Nunito Sans"/>
                <a:cs typeface="Nunito Sans"/>
                <a:sym typeface="Nunito Sans"/>
              </a:rPr>
              <a:t>A Salesforce report, a free Looker Studio dashboard, and a 30-minute review.</a:t>
            </a:r>
            <a:endParaRPr b="0" i="0" sz="1600" u="none" cap="none" strike="noStrike">
              <a:solidFill>
                <a:schemeClr val="dk1"/>
              </a:solidFill>
              <a:latin typeface="Calibri"/>
              <a:ea typeface="Calibri"/>
              <a:cs typeface="Calibri"/>
              <a:sym typeface="Calibri"/>
            </a:endParaRPr>
          </a:p>
        </p:txBody>
      </p:sp>
      <p:sp>
        <p:nvSpPr>
          <p:cNvPr id="157" name="Google Shape;157;p11"/>
          <p:cNvSpPr/>
          <p:nvPr/>
        </p:nvSpPr>
        <p:spPr>
          <a:xfrm>
            <a:off x="4400550" y="2476500"/>
            <a:ext cx="3384550" cy="3048000"/>
          </a:xfrm>
          <a:prstGeom prst="roundRect">
            <a:avLst>
              <a:gd fmla="val 8400" name="adj"/>
            </a:avLst>
          </a:prstGeom>
          <a:solidFill>
            <a:srgbClr val="FDFCF8"/>
          </a:solidFill>
          <a:ln cap="flat" cmpd="sng" w="19050">
            <a:solidFill>
              <a:srgbClr val="E3DE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4705350" y="2730500"/>
            <a:ext cx="1206500" cy="304800"/>
          </a:xfrm>
          <a:prstGeom prst="roundRect">
            <a:avLst>
              <a:gd fmla="val 50000" name="adj"/>
            </a:avLst>
          </a:prstGeom>
          <a:solidFill>
            <a:srgbClr val="2A55D6"/>
          </a:solidFill>
          <a:ln cap="flat" cmpd="sng" w="12700">
            <a:solidFill>
              <a:srgbClr val="2A55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txBox="1"/>
          <p:nvPr/>
        </p:nvSpPr>
        <p:spPr>
          <a:xfrm>
            <a:off x="4705350" y="2730500"/>
            <a:ext cx="12065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200"/>
              <a:buFont typeface="Nunito Sans"/>
              <a:buNone/>
            </a:pPr>
            <a:r>
              <a:rPr b="1" i="0" lang="en-US" sz="1200" u="none" cap="none" strike="noStrike">
                <a:solidFill>
                  <a:srgbClr val="F7F5EF"/>
                </a:solidFill>
                <a:latin typeface="Nunito Sans"/>
                <a:ea typeface="Nunito Sans"/>
                <a:cs typeface="Nunito Sans"/>
                <a:sym typeface="Nunito Sans"/>
              </a:rPr>
              <a:t>Months 2–3</a:t>
            </a:r>
            <a:endParaRPr b="0" i="0" sz="1200" u="none" cap="none" strike="noStrike">
              <a:solidFill>
                <a:schemeClr val="dk1"/>
              </a:solidFill>
              <a:latin typeface="Calibri"/>
              <a:ea typeface="Calibri"/>
              <a:cs typeface="Calibri"/>
              <a:sym typeface="Calibri"/>
            </a:endParaRPr>
          </a:p>
        </p:txBody>
      </p:sp>
      <p:sp>
        <p:nvSpPr>
          <p:cNvPr id="160" name="Google Shape;160;p11"/>
          <p:cNvSpPr txBox="1"/>
          <p:nvPr/>
        </p:nvSpPr>
        <p:spPr>
          <a:xfrm>
            <a:off x="4705350" y="3238500"/>
            <a:ext cx="2774950" cy="69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2200"/>
              <a:buFont typeface="Outfit"/>
              <a:buNone/>
            </a:pPr>
            <a:r>
              <a:rPr b="1" i="0" lang="en-US" sz="2200" u="none" cap="none" strike="noStrike">
                <a:solidFill>
                  <a:srgbClr val="151A2B"/>
                </a:solidFill>
                <a:latin typeface="Outfit"/>
                <a:ea typeface="Outfit"/>
                <a:cs typeface="Outfit"/>
                <a:sym typeface="Outfit"/>
              </a:rPr>
              <a:t>Add the signals</a:t>
            </a:r>
            <a:endParaRPr b="0" i="0" sz="2200" u="none" cap="none" strike="noStrike">
              <a:solidFill>
                <a:schemeClr val="dk1"/>
              </a:solidFill>
              <a:latin typeface="Calibri"/>
              <a:ea typeface="Calibri"/>
              <a:cs typeface="Calibri"/>
              <a:sym typeface="Calibri"/>
            </a:endParaRPr>
          </a:p>
        </p:txBody>
      </p:sp>
      <p:sp>
        <p:nvSpPr>
          <p:cNvPr id="161" name="Google Shape;161;p11"/>
          <p:cNvSpPr txBox="1"/>
          <p:nvPr/>
        </p:nvSpPr>
        <p:spPr>
          <a:xfrm>
            <a:off x="4705350" y="4000500"/>
            <a:ext cx="2774950" cy="127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600"/>
              <a:buFont typeface="Nunito Sans"/>
              <a:buNone/>
            </a:pPr>
            <a:r>
              <a:rPr b="0" i="0" lang="en-US" sz="1600" u="none" cap="none" strike="noStrike">
                <a:solidFill>
                  <a:srgbClr val="4A5163"/>
                </a:solidFill>
                <a:latin typeface="Nunito Sans"/>
                <a:ea typeface="Nunito Sans"/>
                <a:cs typeface="Nunito Sans"/>
                <a:sym typeface="Nunito Sans"/>
              </a:rPr>
              <a:t>News alerts, survey trends, volunteer check-ins, and a weekly summary.</a:t>
            </a:r>
            <a:endParaRPr b="0" i="0" sz="1600" u="none" cap="none" strike="noStrike">
              <a:solidFill>
                <a:schemeClr val="dk1"/>
              </a:solidFill>
              <a:latin typeface="Calibri"/>
              <a:ea typeface="Calibri"/>
              <a:cs typeface="Calibri"/>
              <a:sym typeface="Calibri"/>
            </a:endParaRPr>
          </a:p>
        </p:txBody>
      </p:sp>
      <p:sp>
        <p:nvSpPr>
          <p:cNvPr id="162" name="Google Shape;162;p11"/>
          <p:cNvSpPr/>
          <p:nvPr/>
        </p:nvSpPr>
        <p:spPr>
          <a:xfrm>
            <a:off x="7988300" y="2476500"/>
            <a:ext cx="3384550" cy="3048000"/>
          </a:xfrm>
          <a:prstGeom prst="roundRect">
            <a:avLst>
              <a:gd fmla="val 8400" name="adj"/>
            </a:avLst>
          </a:prstGeom>
          <a:solidFill>
            <a:srgbClr val="FDFCF8"/>
          </a:solidFill>
          <a:ln cap="flat" cmpd="sng" w="19050">
            <a:solidFill>
              <a:srgbClr val="E3DE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8293100" y="2730500"/>
            <a:ext cx="1778000" cy="304800"/>
          </a:xfrm>
          <a:prstGeom prst="roundRect">
            <a:avLst>
              <a:gd fmla="val 50000" name="adj"/>
            </a:avLst>
          </a:prstGeom>
          <a:solidFill>
            <a:srgbClr val="151A2B"/>
          </a:solidFill>
          <a:ln cap="flat" cmpd="sng" w="12700">
            <a:solidFill>
              <a:srgbClr val="15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txBox="1"/>
          <p:nvPr/>
        </p:nvSpPr>
        <p:spPr>
          <a:xfrm>
            <a:off x="8293100" y="2730500"/>
            <a:ext cx="17780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5EF"/>
              </a:buClr>
              <a:buSzPts val="1200"/>
              <a:buFont typeface="Nunito Sans"/>
              <a:buNone/>
            </a:pPr>
            <a:r>
              <a:rPr b="1" i="0" lang="en-US" sz="1200" u="none" cap="none" strike="noStrike">
                <a:solidFill>
                  <a:srgbClr val="F7F5EF"/>
                </a:solidFill>
                <a:latin typeface="Nunito Sans"/>
                <a:ea typeface="Nunito Sans"/>
                <a:cs typeface="Nunito Sans"/>
                <a:sym typeface="Nunito Sans"/>
              </a:rPr>
              <a:t>As capacity grows</a:t>
            </a:r>
            <a:endParaRPr b="0" i="0" sz="1200" u="none" cap="none" strike="noStrike">
              <a:solidFill>
                <a:schemeClr val="dk1"/>
              </a:solidFill>
              <a:latin typeface="Calibri"/>
              <a:ea typeface="Calibri"/>
              <a:cs typeface="Calibri"/>
              <a:sym typeface="Calibri"/>
            </a:endParaRPr>
          </a:p>
        </p:txBody>
      </p:sp>
      <p:sp>
        <p:nvSpPr>
          <p:cNvPr id="165" name="Google Shape;165;p11"/>
          <p:cNvSpPr txBox="1"/>
          <p:nvPr/>
        </p:nvSpPr>
        <p:spPr>
          <a:xfrm>
            <a:off x="8293100" y="3238500"/>
            <a:ext cx="2774950" cy="69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A2B"/>
              </a:buClr>
              <a:buSzPts val="2200"/>
              <a:buFont typeface="Outfit"/>
              <a:buNone/>
            </a:pPr>
            <a:r>
              <a:rPr b="1" i="0" lang="en-US" sz="2200" u="none" cap="none" strike="noStrike">
                <a:solidFill>
                  <a:srgbClr val="151A2B"/>
                </a:solidFill>
                <a:latin typeface="Outfit"/>
                <a:ea typeface="Outfit"/>
                <a:cs typeface="Outfit"/>
                <a:sym typeface="Outfit"/>
              </a:rPr>
              <a:t>Plan ahead</a:t>
            </a:r>
            <a:endParaRPr b="0" i="0" sz="2200" u="none" cap="none" strike="noStrike">
              <a:solidFill>
                <a:schemeClr val="dk1"/>
              </a:solidFill>
              <a:latin typeface="Calibri"/>
              <a:ea typeface="Calibri"/>
              <a:cs typeface="Calibri"/>
              <a:sym typeface="Calibri"/>
            </a:endParaRPr>
          </a:p>
        </p:txBody>
      </p:sp>
      <p:sp>
        <p:nvSpPr>
          <p:cNvPr id="166" name="Google Shape;166;p11"/>
          <p:cNvSpPr txBox="1"/>
          <p:nvPr/>
        </p:nvSpPr>
        <p:spPr>
          <a:xfrm>
            <a:off x="8293100" y="4000500"/>
            <a:ext cx="2774950" cy="127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600"/>
              <a:buFont typeface="Nunito Sans"/>
              <a:buNone/>
            </a:pPr>
            <a:r>
              <a:rPr b="0" i="0" lang="en-US" sz="1600" u="none" cap="none" strike="noStrike">
                <a:solidFill>
                  <a:srgbClr val="4A5163"/>
                </a:solidFill>
                <a:latin typeface="Nunito Sans"/>
                <a:ea typeface="Nunito Sans"/>
                <a:cs typeface="Nunito Sans"/>
                <a:sym typeface="Nunito Sans"/>
              </a:rPr>
              <a:t>The planning simulator, recruitment tracking, and language matching.</a:t>
            </a:r>
            <a:endParaRPr b="0" i="0" sz="1600" u="none" cap="none" strike="noStrike">
              <a:solidFill>
                <a:schemeClr val="dk1"/>
              </a:solidFill>
              <a:latin typeface="Calibri"/>
              <a:ea typeface="Calibri"/>
              <a:cs typeface="Calibri"/>
              <a:sym typeface="Calibri"/>
            </a:endParaRPr>
          </a:p>
        </p:txBody>
      </p:sp>
      <p:sp>
        <p:nvSpPr>
          <p:cNvPr id="167" name="Google Shape;167;p11"/>
          <p:cNvSpPr txBox="1"/>
          <p:nvPr/>
        </p:nvSpPr>
        <p:spPr>
          <a:xfrm>
            <a:off x="812800" y="6096000"/>
            <a:ext cx="1016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Owner: Hey Sam text operations · about 1–2 hours a week after setup</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A2B"/>
        </a:solidFill>
      </p:bgPr>
    </p:bg>
    <p:spTree>
      <p:nvGrpSpPr>
        <p:cNvPr id="172" name="Shape 172"/>
        <p:cNvGrpSpPr/>
        <p:nvPr/>
      </p:nvGrpSpPr>
      <p:grpSpPr>
        <a:xfrm>
          <a:off x="0" y="0"/>
          <a:ext cx="0" cy="0"/>
          <a:chOff x="0" y="0"/>
          <a:chExt cx="0" cy="0"/>
        </a:xfrm>
      </p:grpSpPr>
      <p:sp>
        <p:nvSpPr>
          <p:cNvPr id="173" name="Google Shape;173;p12"/>
          <p:cNvSpPr/>
          <p:nvPr/>
        </p:nvSpPr>
        <p:spPr>
          <a:xfrm>
            <a:off x="9779000" y="812800"/>
            <a:ext cx="1397000" cy="1397000"/>
          </a:xfrm>
          <a:prstGeom prst="ellipse">
            <a:avLst/>
          </a:prstGeom>
          <a:solidFill>
            <a:srgbClr val="23B00D"/>
          </a:solidFill>
          <a:ln cap="flat" cmpd="sng" w="12700">
            <a:solidFill>
              <a:srgbClr val="23B0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
          <p:cNvSpPr/>
          <p:nvPr/>
        </p:nvSpPr>
        <p:spPr>
          <a:xfrm>
            <a:off x="9144000" y="1905000"/>
            <a:ext cx="889000" cy="889000"/>
          </a:xfrm>
          <a:prstGeom prst="ellipse">
            <a:avLst/>
          </a:prstGeom>
          <a:solidFill>
            <a:srgbClr val="3366FF"/>
          </a:solidFill>
          <a:ln cap="flat" cmpd="sng" w="12700">
            <a:solidFill>
              <a:srgbClr val="336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
          <p:cNvSpPr txBox="1"/>
          <p:nvPr/>
        </p:nvSpPr>
        <p:spPr>
          <a:xfrm>
            <a:off x="812800" y="1905000"/>
            <a:ext cx="8255000" cy="63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C9D8"/>
              </a:buClr>
              <a:buSzPts val="3600"/>
              <a:buFont typeface="Outfit"/>
              <a:buNone/>
            </a:pPr>
            <a:r>
              <a:rPr b="0" i="0" lang="en-US" sz="3600" u="none" cap="none" strike="noStrike">
                <a:solidFill>
                  <a:srgbClr val="C4C9D8"/>
                </a:solidFill>
                <a:latin typeface="Outfit"/>
                <a:ea typeface="Outfit"/>
                <a:cs typeface="Outfit"/>
                <a:sym typeface="Outfit"/>
              </a:rPr>
              <a:t>The goal isn't more clicks.</a:t>
            </a:r>
            <a:endParaRPr b="0" i="0" sz="3600" u="none" cap="none" strike="noStrike">
              <a:solidFill>
                <a:schemeClr val="dk1"/>
              </a:solidFill>
              <a:latin typeface="Calibri"/>
              <a:ea typeface="Calibri"/>
              <a:cs typeface="Calibri"/>
              <a:sym typeface="Calibri"/>
            </a:endParaRPr>
          </a:p>
        </p:txBody>
      </p:sp>
      <p:sp>
        <p:nvSpPr>
          <p:cNvPr id="176" name="Google Shape;176;p12"/>
          <p:cNvSpPr txBox="1"/>
          <p:nvPr/>
        </p:nvSpPr>
        <p:spPr>
          <a:xfrm>
            <a:off x="812800" y="2667000"/>
            <a:ext cx="8255000" cy="165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5EF"/>
              </a:buClr>
              <a:buSzPts val="4800"/>
              <a:buFont typeface="Outfit"/>
              <a:buNone/>
            </a:pPr>
            <a:r>
              <a:rPr b="1" i="0" lang="en-US" sz="4800" u="none" cap="none" strike="noStrike">
                <a:solidFill>
                  <a:srgbClr val="F7F5EF"/>
                </a:solidFill>
                <a:latin typeface="Outfit"/>
                <a:ea typeface="Outfit"/>
                <a:cs typeface="Outfit"/>
                <a:sym typeface="Outfit"/>
              </a:rPr>
              <a:t>It's more young people connected, </a:t>
            </a:r>
            <a:r>
              <a:rPr b="1" i="0" lang="en-US" sz="4800" u="none" cap="none" strike="noStrike">
                <a:solidFill>
                  <a:srgbClr val="7BD88A"/>
                </a:solidFill>
                <a:latin typeface="Outfit"/>
                <a:ea typeface="Outfit"/>
                <a:cs typeface="Outfit"/>
                <a:sym typeface="Outfit"/>
              </a:rPr>
              <a:t>sustainably.</a:t>
            </a:r>
            <a:endParaRPr b="1" i="0" sz="4800" u="none" cap="none" strike="noStrike">
              <a:solidFill>
                <a:srgbClr val="7BD88A"/>
              </a:solidFill>
              <a:latin typeface="Outfit"/>
              <a:ea typeface="Outfit"/>
              <a:cs typeface="Outfit"/>
              <a:sym typeface="Outfit"/>
            </a:endParaRPr>
          </a:p>
          <a:p>
            <a:pPr indent="0" lvl="0" marL="0" marR="0" rtl="0" algn="l">
              <a:spcBef>
                <a:spcPts val="0"/>
              </a:spcBef>
              <a:spcAft>
                <a:spcPts val="0"/>
              </a:spcAft>
              <a:buClr>
                <a:srgbClr val="F7F5EF"/>
              </a:buClr>
              <a:buSzPts val="4800"/>
              <a:buFont typeface="Outfit"/>
              <a:buNone/>
            </a:pPr>
            <a:r>
              <a:t/>
            </a:r>
            <a:endParaRPr b="1" sz="4800">
              <a:solidFill>
                <a:srgbClr val="7BD88A"/>
              </a:solidFill>
              <a:latin typeface="Outfit"/>
              <a:ea typeface="Outfit"/>
              <a:cs typeface="Outfit"/>
              <a:sym typeface="Outfit"/>
            </a:endParaRPr>
          </a:p>
          <a:p>
            <a:pPr indent="0" lvl="0" marL="0" marR="0" rtl="0" algn="l">
              <a:spcBef>
                <a:spcPts val="0"/>
              </a:spcBef>
              <a:spcAft>
                <a:spcPts val="0"/>
              </a:spcAft>
              <a:buClr>
                <a:srgbClr val="F7F5EF"/>
              </a:buClr>
              <a:buSzPts val="4800"/>
              <a:buFont typeface="Outfit"/>
              <a:buNone/>
            </a:pPr>
            <a:r>
              <a:t/>
            </a:r>
            <a:endParaRPr b="1" sz="4800">
              <a:solidFill>
                <a:srgbClr val="7BD88A"/>
              </a:solidFill>
              <a:latin typeface="Outfit"/>
              <a:ea typeface="Outfit"/>
              <a:cs typeface="Outfit"/>
              <a:sym typeface="Outfit"/>
            </a:endParaRPr>
          </a:p>
          <a:p>
            <a:pPr indent="0" lvl="0" marL="0" rtl="0" algn="l">
              <a:spcBef>
                <a:spcPts val="0"/>
              </a:spcBef>
              <a:spcAft>
                <a:spcPts val="0"/>
              </a:spcAft>
              <a:buClr>
                <a:srgbClr val="C4C9D8"/>
              </a:buClr>
              <a:buSzPts val="2200"/>
              <a:buFont typeface="Nunito Sans"/>
              <a:buNone/>
            </a:pPr>
            <a:r>
              <a:rPr lang="en-US" sz="2200" u="sng">
                <a:solidFill>
                  <a:schemeClr val="hlink"/>
                </a:solidFill>
                <a:latin typeface="Nunito Sans"/>
                <a:ea typeface="Nunito Sans"/>
                <a:cs typeface="Nunito Sans"/>
                <a:sym typeface="Nunito Sans"/>
                <a:hlinkClick r:id="rId3"/>
              </a:rPr>
              <a:t>https://github.com/dribeiro0/H4I-HeySam-Buildathon</a:t>
            </a:r>
            <a:r>
              <a:rPr lang="en-US" sz="2200">
                <a:solidFill>
                  <a:srgbClr val="C4C9D8"/>
                </a:solidFill>
                <a:latin typeface="Nunito Sans"/>
                <a:ea typeface="Nunito Sans"/>
                <a:cs typeface="Nunito Sans"/>
                <a:sym typeface="Nunito Sans"/>
              </a:rPr>
              <a:t> </a:t>
            </a:r>
            <a:endParaRPr b="1" sz="4800">
              <a:solidFill>
                <a:srgbClr val="7BD88A"/>
              </a:solidFill>
              <a:latin typeface="Outfit"/>
              <a:ea typeface="Outfit"/>
              <a:cs typeface="Outfit"/>
              <a:sym typeface="Outfit"/>
            </a:endParaRPr>
          </a:p>
        </p:txBody>
      </p:sp>
      <p:sp>
        <p:nvSpPr>
          <p:cNvPr id="177" name="Google Shape;177;p12"/>
          <p:cNvSpPr/>
          <p:nvPr/>
        </p:nvSpPr>
        <p:spPr>
          <a:xfrm>
            <a:off x="812800" y="4572000"/>
            <a:ext cx="2794000" cy="406400"/>
          </a:xfrm>
          <a:prstGeom prst="roundRect">
            <a:avLst>
              <a:gd fmla="val 50000" name="adj"/>
            </a:avLst>
          </a:prstGeom>
          <a:solidFill>
            <a:srgbClr val="7BD88A"/>
          </a:solidFill>
          <a:ln cap="flat" cmpd="sng" w="12700">
            <a:solidFill>
              <a:srgbClr val="7BD8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2"/>
          <p:cNvSpPr txBox="1"/>
          <p:nvPr/>
        </p:nvSpPr>
        <p:spPr>
          <a:xfrm>
            <a:off x="812800" y="4572000"/>
            <a:ext cx="27940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2B"/>
              </a:buClr>
              <a:buSzPts val="1600"/>
              <a:buFont typeface="Nunito Sans"/>
              <a:buNone/>
            </a:pPr>
            <a:r>
              <a:rPr b="1" i="0" lang="en-US" sz="1600" u="none" cap="none" strike="noStrike">
                <a:solidFill>
                  <a:srgbClr val="151A2B"/>
                </a:solidFill>
                <a:latin typeface="Nunito Sans"/>
                <a:ea typeface="Nunito Sans"/>
                <a:cs typeface="Nunito Sans"/>
                <a:sym typeface="Nunito Sans"/>
              </a:rPr>
              <a:t>Thank you · Questions?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